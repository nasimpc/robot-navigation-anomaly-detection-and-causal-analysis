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jam8hPzfhdRcOmO9srOgbsouq+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F11DA5-D60C-43FA-A1B7-15BA222CE41B}">
  <a:tblStyle styleId="{6BF11DA5-D60C-43FA-A1B7-15BA222CE41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23dfd7fba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923dfd7fba_4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923dfd7fba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923dfd7fb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23dfd7fba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23dfd7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23dfd7fba_4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23dfd7fba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Robot Navigation Anomaly Detection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Team 2 | AI Algorithms | Mid-term Presentation | January 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1. Requirements &amp; Changes (~1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2. Metrics Overview (~2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3. Interesting Insights from Anomaly Detection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4. Methodology for Causal Analysis &amp; Results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5. Ideas for Future Improvements (~1 min)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Requirements &amp; Changes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Initial Approach (Problem)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Dataset lacks RTF (Real-Time Factor) data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Logs were not structured for analysis</a:t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Current Approach (Solution)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CSV-based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Structured, reliable data format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Consistent across all runs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Data Sources</a:t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poses.csv — Ground truth and estimated poses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behaviors.csv — Behavior tree execution logs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rosbag2.csv — Raw ROS topics (AMCL pose, transforms, velocity commands)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scenario.config — Scenario parameters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Performance Metrics</a:t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9" name="Google Shape;119;p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{6BF11DA5-D60C-43FA-A1B7-15BA222CE41B}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Category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mean_pos_error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position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rmse_pos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 mean square error (spike sensitive)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orientation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executed_path_length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path traveled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ratio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gt_path / executed (1 is best)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mean_linear_velocity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m/s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movement speed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trajectory_smoothness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rad/s2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Angular acceleration (lower = smoother)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duration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run time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AMCL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mean_amcl_uncertainty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localization confidence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 cap="none" strike="noStrike">
                <a:solidFill>
                  <a:srgbClr val="000000"/>
                </a:solidFill>
              </a:rPr>
              <a:t>Anomaly Detectors</a:t>
            </a:r>
            <a:endParaRPr/>
          </a:p>
        </p:txBody>
      </p:sp>
      <p:sp>
        <p:nvSpPr>
          <p:cNvPr id="125" name="Google Shape;125;p6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Rule-Based (8 types)</a:t>
            </a:r>
            <a:endParaRPr/>
          </a:p>
        </p:txBody>
      </p:sp>
      <p:sp>
        <p:nvSpPr>
          <p:cNvPr id="128" name="Google Shape;128;p6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- Goal not reached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no_initiation - Robot didn't start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- Sudden errors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- Robot stopped moving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high_amcl_uncertainty - Poor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- Orientation issues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path_inefficiency - Sub-optimal path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oscillation - Jerky motion (smoothness &gt; 2.0)</a:t>
            </a:r>
            <a:endParaRPr/>
          </a:p>
        </p:txBody>
      </p:sp>
      <p:sp>
        <p:nvSpPr>
          <p:cNvPr id="129" name="Google Shape;129;p6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ML-Based (1 type)</a:t>
            </a:r>
            <a:endParaRPr/>
          </a:p>
        </p:txBody>
      </p:sp>
      <p:sp>
        <p:nvSpPr>
          <p:cNvPr id="130" name="Google Shape;130;p6"/>
          <p:cNvSpPr txBox="1"/>
          <p:nvPr/>
        </p:nvSpPr>
        <p:spPr>
          <a:xfrm>
            <a:off x="6217920" y="1920240"/>
            <a:ext cx="50292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</a:t>
            </a:r>
            <a:r>
              <a:rPr lang="en-US" sz="1600">
                <a:solidFill>
                  <a:srgbClr val="333333"/>
                </a:solidFill>
              </a:rPr>
              <a:t>aptures multi-metric abnormal patterns that rules may miss. 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Uses all performance metrics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923dfd7fba_4_5"/>
          <p:cNvSpPr txBox="1"/>
          <p:nvPr/>
        </p:nvSpPr>
        <p:spPr>
          <a:xfrm>
            <a:off x="457200" y="365760"/>
            <a:ext cx="9144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800">
                <a:solidFill>
                  <a:srgbClr val="333333"/>
                </a:solidFill>
              </a:rPr>
              <a:t>3. Interesting Insights from Anomaly Detection </a:t>
            </a:r>
            <a:endParaRPr b="1" sz="2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/>
          </a:p>
        </p:txBody>
      </p:sp>
      <p:sp>
        <p:nvSpPr>
          <p:cNvPr id="136" name="Google Shape;136;g3923dfd7fba_4_5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37" name="Google Shape;137;g3923dfd7fba_4_5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8" name="Google Shape;138;g3923dfd7fba_4_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{6BF11DA5-D60C-43FA-A1B7-15BA222CE41B}</a:tableStyleId>
              </a:tblPr>
              <a:tblGrid>
                <a:gridCol w="2133600"/>
                <a:gridCol w="2133600"/>
                <a:gridCol w="21336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 Type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Count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 of Runs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38.3%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position_error_spike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path_inefficiency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2.3%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39" name="Google Shape;139;g3923dfd7fba_4_5"/>
          <p:cNvSpPr txBox="1"/>
          <p:nvPr/>
        </p:nvSpPr>
        <p:spPr>
          <a:xfrm>
            <a:off x="7315200" y="1463040"/>
            <a:ext cx="4114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Findings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Total occurrences: 341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is most common (50%)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follows at 38.3%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 catches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Single run can have multiple anomalies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b="1" sz="2800"/>
          </a:p>
        </p:txBody>
      </p:sp>
      <p:sp>
        <p:nvSpPr>
          <p:cNvPr id="145" name="Google Shape;145;p7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609450" y="1381361"/>
            <a:ext cx="10972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Door-Width (120 Runs): High incidence of Goal Failure (64%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Hallway-Window (120 Runs): Goal Failure remains the top anomaly (43%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Room-Size (60 Runs): Agents frequently getting Stuck (52% of runs).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Scenario Categories</a:t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 txBox="1"/>
          <p:nvPr/>
        </p:nvSpPr>
        <p:spPr>
          <a:xfrm>
            <a:off x="640080" y="1463040"/>
            <a:ext cx="10972800" cy="330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Door-width scenarios (120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Narrow doors are primary failure points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Robots struggle with precise navigation through tight passages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Hallway-window scenarios (120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Window features confuse laser-based localization (AMCL)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Room-size scenarios (60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Larger rooms with fewer features -&gt; higher localization uncertainty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Anomaly Co-occurrence</a:t>
            </a:r>
            <a:endParaRPr/>
          </a:p>
        </p:txBody>
      </p:sp>
      <p:sp>
        <p:nvSpPr>
          <p:cNvPr id="161" name="Google Shape;161;p10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62" name="Google Shape;162;p10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 txBox="1"/>
          <p:nvPr/>
        </p:nvSpPr>
        <p:spPr>
          <a:xfrm>
            <a:off x="609450" y="1682381"/>
            <a:ext cx="10972800" cy="18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+ high_yaw_error (Jaccard = 0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Poor orientation tracking leads to position drift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+ path_inefficiency (Jaccar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 = 0.78)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Orientation errors cause inefficient path execution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Early Detection (First 30% of Run)</a:t>
            </a:r>
            <a:endParaRPr/>
          </a:p>
        </p:txBody>
      </p:sp>
      <p:sp>
        <p:nvSpPr>
          <p:cNvPr id="169" name="Google Shape;169;p9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1" name="Google Shape;171;p9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{6BF11DA5-D60C-43FA-A1B7-15BA222CE41B}</a:tableStyleId>
              </a:tblPr>
              <a:tblGrid>
                <a:gridCol w="2194550"/>
                <a:gridCol w="2194550"/>
                <a:gridCol w="2194550"/>
                <a:gridCol w="2194550"/>
                <a:gridCol w="21945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Insight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0.828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0.766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0.789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0.661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0.834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Good detection capability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Feature Signatures</a:t>
            </a:r>
            <a:endParaRPr/>
          </a:p>
        </p:txBody>
      </p:sp>
      <p:sp>
        <p:nvSpPr>
          <p:cNvPr id="177" name="Google Shape;177;p11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78" name="Google Shape;178;p11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Goal Failure ('Lost Robot')</a:t>
            </a:r>
            <a:endParaRPr/>
          </a:p>
        </p:txBody>
      </p:sp>
      <p:sp>
        <p:nvSpPr>
          <p:cNvPr id="180" name="Google Shape;180;p11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amcl_std (+1.176) - Inconsistent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amcl_median (-0.969) - Dropping confidence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std_velocity (-0.930) - Robot slowing/stopped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Interpretation: AMCL unstable + velocity drops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Stuck ('Persistent Obstacle')</a:t>
            </a:r>
            <a:endParaRPr/>
          </a:p>
        </p:txBody>
      </p:sp>
      <p:sp>
        <p:nvSpPr>
          <p:cNvPr id="182" name="Google Shape;182;p11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max_pos_error (+1.355) - Far from target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duration (+1.294) - No progress over time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std_pos_error (-1.279) - Constant high error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Interpretation: Immobile behind obstacle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923dfd7fba_0_4"/>
          <p:cNvSpPr txBox="1"/>
          <p:nvPr/>
        </p:nvSpPr>
        <p:spPr>
          <a:xfrm>
            <a:off x="1169825" y="1670375"/>
            <a:ext cx="50448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position_error_spike: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mean_lin_acc: coef=+2.195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std_velocity: coef=+1.844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stuck_ratio: coef=+1.716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g3923dfd7fba_0_4"/>
          <p:cNvSpPr txBox="1"/>
          <p:nvPr/>
        </p:nvSpPr>
        <p:spPr>
          <a:xfrm>
            <a:off x="6525575" y="1571950"/>
            <a:ext cx="52620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high_amcl_uncertainty: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pos_error_trend: coef=+1.653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mean_lin_acc: coef=+1.484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↓ amcl_mean: coef=-1.210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Causal Analysis - Methodology</a:t>
            </a:r>
            <a:endParaRPr/>
          </a:p>
        </p:txBody>
      </p:sp>
      <p:sp>
        <p:nvSpPr>
          <p:cNvPr id="194" name="Google Shape;194;p12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95" name="Google Shape;195;p1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2"/>
          <p:cNvSpPr txBox="1"/>
          <p:nvPr/>
        </p:nvSpPr>
        <p:spPr>
          <a:xfrm>
            <a:off x="640080" y="1463040"/>
            <a:ext cx="10972800" cy="3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Approach: Model Distillation / Surrogate Modeling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1: High-Capacity Model Training (Ensemble)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Voting Classifier: D</a:t>
            </a:r>
            <a:r>
              <a:rPr lang="en-US" sz="1800">
                <a:solidFill>
                  <a:srgbClr val="333333"/>
                </a:solidFill>
              </a:rPr>
              <a:t>ecision Tree+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Random Forest + Gradient Boosting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Prioritizes F1-score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2: Surrogate Model Training (Distilled Decision Tree)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Constrained tree (max_depth=4)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Target: Ensemble predictions (not ground truth)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23dfd7fba_0_0"/>
          <p:cNvSpPr txBox="1"/>
          <p:nvPr/>
        </p:nvSpPr>
        <p:spPr>
          <a:xfrm>
            <a:off x="1754725" y="2102025"/>
            <a:ext cx="9358500" cy="247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Step 3: Rule Extraction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Extract paths with P(Anomaly) &gt; 0.5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Step 4: FOL Translation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Map thresholds to semantic predicates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207" name="Google Shape;207;p1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208" name="Google Shape;208;p1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 Failure: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in_corridor(t) AND min_wall_distance &gt; 0.737 AND obstacle_clearance &lt;= 17.97 =&gt; goal_failure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min_door_distance &gt; 1.792 AND noise_level &lt;= 0.015 AND room_area &lt;= 25.13 =&gt; stuck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 AMCL Uncertainty: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obstacle_clearance_ratio &gt; 31.31 AND total_obstacle_area &lt;= 0.875 =&gt; high_amcl_uncertainty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 Inefficiency: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clearance_ratio &gt; 6.812 AND min_door_distance &lt;= 1.349 =&gt; path_inefficiency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g3923dfd7fba_4_0" title="model_comparison_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7900" y="1276550"/>
            <a:ext cx="10075874" cy="4761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Ideas for Future Improvements</a:t>
            </a:r>
            <a:endParaRPr/>
          </a:p>
        </p:txBody>
      </p:sp>
      <p:sp>
        <p:nvSpPr>
          <p:cNvPr id="220" name="Google Shape;220;p1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221" name="Google Shape;221;p1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4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Short-term</a:t>
            </a:r>
            <a:endParaRPr/>
          </a:p>
        </p:txBody>
      </p:sp>
      <p:sp>
        <p:nvSpPr>
          <p:cNvPr id="223" name="Google Shape;223;p14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Hyperparameter tuning on surrogate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Optimize max_depth, min_samples_leaf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Better balance: simplicity vs accuracy</a:t>
            </a:r>
            <a:endParaRPr/>
          </a:p>
        </p:txBody>
      </p:sp>
      <p:sp>
        <p:nvSpPr>
          <p:cNvPr id="224" name="Google Shape;224;p14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Long-term</a:t>
            </a:r>
            <a:endParaRPr/>
          </a:p>
        </p:txBody>
      </p:sp>
      <p:sp>
        <p:nvSpPr>
          <p:cNvPr id="225" name="Google Shape;225;p14"/>
          <p:cNvSpPr txBox="1"/>
          <p:nvPr/>
        </p:nvSpPr>
        <p:spPr>
          <a:xfrm>
            <a:off x="6217920" y="1920240"/>
            <a:ext cx="5029200" cy="19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Feature engineering enhancements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Add more obstacle-related features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Include temporal dynamics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Cross-validation on unseen scenarios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Sensitivity analysis of rule thresholds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/>
          </a:p>
        </p:txBody>
      </p:sp>
      <p:sp>
        <p:nvSpPr>
          <p:cNvPr id="231" name="Google Shape;231;p1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"/>
          <p:cNvSpPr txBox="1"/>
          <p:nvPr/>
        </p:nvSpPr>
        <p:spPr>
          <a:xfrm>
            <a:off x="640080" y="1463040"/>
            <a:ext cx="109728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Requirements: Switched from log-based to CSV-based anomaly detection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Metrics: 9 performance metrics + 9 anomaly detectors (8 rule + 1 ML)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Causal Analysis: Surrogate tree distillation for interpretable FOL rules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Future: Hyperparameter tuning + enhanced feature engineering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6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Thank You!</a:t>
            </a:r>
            <a:endParaRPr/>
          </a:p>
        </p:txBody>
      </p:sp>
      <p:sp>
        <p:nvSpPr>
          <p:cNvPr id="238" name="Google Shape;238;p16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