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6" roundtripDataSignature="AMtx7mivfXbB/Fl7D76lu6Q+g5yRhAkwy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8EF216-A2B3-4FF7-8C58-26E7DE7CF612}">
  <a:tblStyle styleId="{E28EF216-A2B3-4FF7-8C58-26E7DE7CF61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customschemas.google.com/relationships/presentationmetadata" Target="metadata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923dfd7fba_4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g3923dfd7fba_4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923dfd7fba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923dfd7fba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923dfd7fba_4_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923dfd7fba_4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923dfd7fba_4_9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923dfd7fba_4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923dfd7fba_4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923dfd7fba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Robot Navigation Anomaly Detection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Team 2 | AI Algorithms | Mid-term Presentation | January 6,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Agenda</a:t>
            </a:r>
            <a:endParaRPr/>
          </a:p>
        </p:txBody>
      </p:sp>
      <p:sp>
        <p:nvSpPr>
          <p:cNvPr id="91" name="Google Shape;91;p2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1. Requirements &amp; Changes (~1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2. Metrics Overview (~2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3. Interesting Insights from Anomaly Detection (~3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4. Methodology for Causal Analysis &amp; Results (~3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5. Ideas for Future Improvements (~1 min)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Requirements &amp; Changes</a:t>
            </a:r>
            <a:endParaRPr/>
          </a:p>
        </p:txBody>
      </p:sp>
      <p:sp>
        <p:nvSpPr>
          <p:cNvPr id="98" name="Google Shape;98;p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/>
          </a:p>
        </p:txBody>
      </p:sp>
      <p:sp>
        <p:nvSpPr>
          <p:cNvPr id="99" name="Google Shape;99;p3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Initial Approach (Problem)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Log-based anomaly detection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Dataset lacks RTF (Real-Time Factor) data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Logs were not structured for analysis</a:t>
            </a:r>
            <a:endParaRPr/>
          </a:p>
        </p:txBody>
      </p:sp>
      <p:sp>
        <p:nvSpPr>
          <p:cNvPr id="102" name="Google Shape;102;p3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Current Approach (Solution)</a:t>
            </a:r>
            <a:endParaRPr/>
          </a:p>
        </p:txBody>
      </p:sp>
      <p:sp>
        <p:nvSpPr>
          <p:cNvPr id="103" name="Google Shape;103;p3"/>
          <p:cNvSpPr txBox="1"/>
          <p:nvPr/>
        </p:nvSpPr>
        <p:spPr>
          <a:xfrm>
            <a:off x="621792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CSV-based anomaly detection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Structured, reliable data format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Consistent across all runs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Data Sources</a:t>
            </a:r>
            <a:endParaRPr/>
          </a:p>
        </p:txBody>
      </p:sp>
      <p:sp>
        <p:nvSpPr>
          <p:cNvPr id="109" name="Google Shape;109;p4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/>
          </a:p>
        </p:txBody>
      </p:sp>
      <p:sp>
        <p:nvSpPr>
          <p:cNvPr id="110" name="Google Shape;110;p4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poses.csv — Ground truth and estimated poses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behaviors.csv — Behavior tree execution logs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rosbag2.csv — Raw ROS topics (AMCL pose, transforms, velocity commands)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scenario.config — Scenario parameters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Performance Metrics</a:t>
            </a:r>
            <a:endParaRPr/>
          </a:p>
        </p:txBody>
      </p:sp>
      <p:sp>
        <p:nvSpPr>
          <p:cNvPr id="117" name="Google Shape;117;p5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~2 min</a:t>
            </a:r>
            <a:endParaRPr/>
          </a:p>
        </p:txBody>
      </p:sp>
      <p:sp>
        <p:nvSpPr>
          <p:cNvPr id="118" name="Google Shape;118;p5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9" name="Google Shape;119;p5"/>
          <p:cNvGraphicFramePr/>
          <p:nvPr/>
        </p:nvGraphicFramePr>
        <p:xfrm>
          <a:off x="640080" y="1463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{E28EF216-A2B3-4FF7-8C58-26E7DE7CF612}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Category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Localization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mean_pos_error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position error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Localization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rmse_pos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Root mean square error (spike sensitive)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Localization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mean_yaw_error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rad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orientation error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executed_path_length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 path traveled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path_efficiency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ratio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gt_path / executed (1 is best)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Kinematics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mean_linear_velocity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m/s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movement speed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Kinematics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trajectory_smoothness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rad/s2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Angular acceleration (lower = smoother)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Kinematics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duration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 run time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AMCL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mean_amcl_uncertainty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localization confidence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u="none" cap="none" strike="noStrike">
                <a:solidFill>
                  <a:srgbClr val="000000"/>
                </a:solidFill>
              </a:rPr>
              <a:t>Anomaly Detectors</a:t>
            </a:r>
            <a:endParaRPr/>
          </a:p>
        </p:txBody>
      </p:sp>
      <p:sp>
        <p:nvSpPr>
          <p:cNvPr id="125" name="Google Shape;125;p6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~2 min</a:t>
            </a: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Rule-Based (8 types)</a:t>
            </a:r>
            <a:endParaRPr/>
          </a:p>
        </p:txBody>
      </p:sp>
      <p:sp>
        <p:nvSpPr>
          <p:cNvPr id="128" name="Google Shape;128;p6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goal_failure - Goal not reached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no_initiation - Robot didn't start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position_error_spike - Sudden errors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stuck - Robot stopped moving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high_amcl_uncertainty - Poor localization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high_yaw_error - Orientation issues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path_inefficiency - Sub-optimal path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oscillation - Jerky motion (smoothness &gt; 2.0)</a:t>
            </a:r>
            <a:endParaRPr/>
          </a:p>
        </p:txBody>
      </p:sp>
      <p:sp>
        <p:nvSpPr>
          <p:cNvPr id="129" name="Google Shape;129;p6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ML-Based (1 type)</a:t>
            </a:r>
            <a:endParaRPr/>
          </a:p>
        </p:txBody>
      </p:sp>
      <p:sp>
        <p:nvSpPr>
          <p:cNvPr id="130" name="Google Shape;130;p6"/>
          <p:cNvSpPr txBox="1"/>
          <p:nvPr/>
        </p:nvSpPr>
        <p:spPr>
          <a:xfrm>
            <a:off x="6217920" y="1920240"/>
            <a:ext cx="50292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Isolation Forest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</a:t>
            </a:r>
            <a:r>
              <a:rPr lang="en-US" sz="1600">
                <a:solidFill>
                  <a:srgbClr val="333333"/>
                </a:solidFill>
              </a:rPr>
              <a:t>aptures multi-metric abnormal patterns that rules may miss. </a:t>
            </a:r>
            <a:endParaRPr sz="16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Uses all performance metrics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923dfd7fba_4_5"/>
          <p:cNvSpPr txBox="1"/>
          <p:nvPr/>
        </p:nvSpPr>
        <p:spPr>
          <a:xfrm>
            <a:off x="457200" y="365760"/>
            <a:ext cx="91440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2800">
                <a:solidFill>
                  <a:srgbClr val="333333"/>
                </a:solidFill>
              </a:rPr>
              <a:t>3. Interesting Insights from Anomaly Detection </a:t>
            </a:r>
            <a:endParaRPr b="1" sz="28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/>
          </a:p>
        </p:txBody>
      </p:sp>
      <p:sp>
        <p:nvSpPr>
          <p:cNvPr id="136" name="Google Shape;136;g3923dfd7fba_4_5"/>
          <p:cNvSpPr txBox="1"/>
          <p:nvPr/>
        </p:nvSpPr>
        <p:spPr>
          <a:xfrm>
            <a:off x="10058400" y="365760"/>
            <a:ext cx="164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37" name="Google Shape;137;g3923dfd7fba_4_5"/>
          <p:cNvSpPr/>
          <p:nvPr/>
        </p:nvSpPr>
        <p:spPr>
          <a:xfrm>
            <a:off x="457200" y="1188720"/>
            <a:ext cx="11277300" cy="183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8" name="Google Shape;138;g3923dfd7fba_4_5"/>
          <p:cNvGraphicFramePr/>
          <p:nvPr/>
        </p:nvGraphicFramePr>
        <p:xfrm>
          <a:off x="640080" y="1463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{E28EF216-A2B3-4FF7-8C58-26E7DE7CF612}</a:tableStyleId>
              </a:tblPr>
              <a:tblGrid>
                <a:gridCol w="2133600"/>
                <a:gridCol w="2133600"/>
                <a:gridCol w="213360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Anomaly Type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Count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 of Runs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goal_failure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150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50.0%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stuck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38.3%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Isolation Forest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15.0%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position_error_spike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5.0%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high_yaw_error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3.0%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path_inefficiency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2.3%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39" name="Google Shape;139;g3923dfd7fba_4_5"/>
          <p:cNvSpPr txBox="1"/>
          <p:nvPr/>
        </p:nvSpPr>
        <p:spPr>
          <a:xfrm>
            <a:off x="7315200" y="1463040"/>
            <a:ext cx="41148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 Findings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Total occurrences: 341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goal_failure is most common (50%)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stuck follows at 38.3%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Isolation Forest catches 15%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Single run can have multiple anomalies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b="1" sz="2800"/>
          </a:p>
        </p:txBody>
      </p:sp>
      <p:sp>
        <p:nvSpPr>
          <p:cNvPr id="145" name="Google Shape;145;p7"/>
          <p:cNvSpPr txBox="1"/>
          <p:nvPr/>
        </p:nvSpPr>
        <p:spPr>
          <a:xfrm>
            <a:off x="10058400" y="365760"/>
            <a:ext cx="164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 txBox="1"/>
          <p:nvPr/>
        </p:nvSpPr>
        <p:spPr>
          <a:xfrm>
            <a:off x="609450" y="1381361"/>
            <a:ext cx="109728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Char char="●"/>
            </a:pPr>
            <a:r>
              <a:rPr lang="en-US" sz="1800">
                <a:solidFill>
                  <a:srgbClr val="333333"/>
                </a:solidFill>
              </a:rPr>
              <a:t>Door-Width (120 Runs): High incidence of Goal Failure (64% of runs).</a:t>
            </a:r>
            <a:endParaRPr sz="1800">
              <a:solidFill>
                <a:srgbClr val="333333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Char char="●"/>
            </a:pPr>
            <a:r>
              <a:rPr lang="en-US" sz="1800">
                <a:solidFill>
                  <a:srgbClr val="333333"/>
                </a:solidFill>
              </a:rPr>
              <a:t>Hallway-Window (120 Runs): Goal Failure remains the top anomaly (43% of runs).</a:t>
            </a:r>
            <a:endParaRPr sz="1800">
              <a:solidFill>
                <a:srgbClr val="333333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Char char="●"/>
            </a:pPr>
            <a:r>
              <a:rPr lang="en-US" sz="1800">
                <a:solidFill>
                  <a:srgbClr val="333333"/>
                </a:solidFill>
              </a:rPr>
              <a:t>Room-Size (60 Runs): Agents frequently getting Stuck (52% of runs).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0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Insights - Anomaly Co-occurrence</a:t>
            </a:r>
            <a:endParaRPr/>
          </a:p>
        </p:txBody>
      </p:sp>
      <p:sp>
        <p:nvSpPr>
          <p:cNvPr id="153" name="Google Shape;153;p10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54" name="Google Shape;154;p10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0"/>
          <p:cNvSpPr txBox="1"/>
          <p:nvPr/>
        </p:nvSpPr>
        <p:spPr>
          <a:xfrm>
            <a:off x="609450" y="1682381"/>
            <a:ext cx="10972800" cy="18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position_error_spike + high_yaw_error (Jaccard = 0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.60)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Poor orientation tracking leads to position drift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high_yaw_error + path_inefficiency (Jaccar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 = 0.78)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Orientation errors cause inefficient path execution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Insights - Early Detection (First 30% of Run)</a:t>
            </a:r>
            <a:endParaRPr/>
          </a:p>
        </p:txBody>
      </p:sp>
      <p:sp>
        <p:nvSpPr>
          <p:cNvPr id="161" name="Google Shape;161;p9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3" name="Google Shape;163;p9"/>
          <p:cNvGraphicFramePr/>
          <p:nvPr/>
        </p:nvGraphicFramePr>
        <p:xfrm>
          <a:off x="640080" y="1463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{E28EF216-A2B3-4FF7-8C58-26E7DE7CF612}</a:tableStyleId>
              </a:tblPr>
              <a:tblGrid>
                <a:gridCol w="2194550"/>
                <a:gridCol w="2194550"/>
                <a:gridCol w="2194550"/>
                <a:gridCol w="2194550"/>
                <a:gridCol w="21945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Anomaly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PR-AUC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ROC-AUC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Cases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Insight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goal_failure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0.852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0.828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150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Highly predictable early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stuck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0.766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0.789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Highly predictable early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Isolation Forest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0.661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0.834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Good detection capability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1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Insights - Feature Signatures</a:t>
            </a:r>
            <a:endParaRPr/>
          </a:p>
        </p:txBody>
      </p:sp>
      <p:sp>
        <p:nvSpPr>
          <p:cNvPr id="169" name="Google Shape;169;p11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70" name="Google Shape;170;p11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1"/>
          <p:cNvSpPr txBox="1"/>
          <p:nvPr/>
        </p:nvSpPr>
        <p:spPr>
          <a:xfrm>
            <a:off x="640075" y="2053850"/>
            <a:ext cx="5029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Goal Failure </a:t>
            </a:r>
            <a:r>
              <a:rPr b="1" lang="en-US" sz="2000"/>
              <a:t>:</a:t>
            </a:r>
            <a:endParaRPr/>
          </a:p>
        </p:txBody>
      </p:sp>
      <p:sp>
        <p:nvSpPr>
          <p:cNvPr id="172" name="Google Shape;172;p11"/>
          <p:cNvSpPr txBox="1"/>
          <p:nvPr/>
        </p:nvSpPr>
        <p:spPr>
          <a:xfrm>
            <a:off x="640075" y="2334551"/>
            <a:ext cx="5029200" cy="16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800">
                <a:solidFill>
                  <a:srgbClr val="333333"/>
                </a:solidFill>
              </a:rPr>
              <a:t>path_length                   : r=-0.491 ***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std_velocity                  : r=-0.437 ***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path_efficiency               : r=-0.384 ***</a:t>
            </a:r>
            <a:endParaRPr sz="18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</p:txBody>
      </p:sp>
      <p:sp>
        <p:nvSpPr>
          <p:cNvPr id="173" name="Google Shape;173;p11"/>
          <p:cNvSpPr txBox="1"/>
          <p:nvPr/>
        </p:nvSpPr>
        <p:spPr>
          <a:xfrm>
            <a:off x="6283650" y="1934350"/>
            <a:ext cx="5029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Stuck </a:t>
            </a:r>
            <a:r>
              <a:rPr b="1" lang="en-US" sz="2000"/>
              <a:t>:</a:t>
            </a:r>
            <a:endParaRPr/>
          </a:p>
        </p:txBody>
      </p:sp>
      <p:sp>
        <p:nvSpPr>
          <p:cNvPr id="174" name="Google Shape;174;p11"/>
          <p:cNvSpPr txBox="1"/>
          <p:nvPr/>
        </p:nvSpPr>
        <p:spPr>
          <a:xfrm>
            <a:off x="6217925" y="2530350"/>
            <a:ext cx="5029200" cy="12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rgbClr val="333333"/>
                </a:solidFill>
              </a:rPr>
              <a:t>duration                      : r=+0.524 ***</a:t>
            </a:r>
            <a:endParaRPr sz="16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rgbClr val="333333"/>
                </a:solidFill>
              </a:rPr>
              <a:t>mean_angular_vel              : r=-0.283 ***</a:t>
            </a:r>
            <a:endParaRPr sz="16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rgbClr val="333333"/>
                </a:solidFill>
              </a:rPr>
              <a:t>path_length                   : r=+0.276 ***</a:t>
            </a:r>
            <a:endParaRPr sz="16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923dfd7fba_0_4"/>
          <p:cNvSpPr txBox="1"/>
          <p:nvPr/>
        </p:nvSpPr>
        <p:spPr>
          <a:xfrm>
            <a:off x="1169825" y="1670375"/>
            <a:ext cx="5088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g3923dfd7fba_0_4"/>
          <p:cNvSpPr txBox="1"/>
          <p:nvPr/>
        </p:nvSpPr>
        <p:spPr>
          <a:xfrm>
            <a:off x="772250" y="2366050"/>
            <a:ext cx="5486400" cy="17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high_amcl_uncertainty: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rmse_pos                      : r=+0.291 ***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max_velocity                  : r=+0.277 ***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std_pos_error                 : r=+0.274 ***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g3923dfd7fba_0_4"/>
          <p:cNvSpPr/>
          <p:nvPr/>
        </p:nvSpPr>
        <p:spPr>
          <a:xfrm>
            <a:off x="457200" y="1188720"/>
            <a:ext cx="11277300" cy="183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2"/>
          <p:cNvSpPr txBox="1"/>
          <p:nvPr/>
        </p:nvSpPr>
        <p:spPr>
          <a:xfrm>
            <a:off x="457200" y="365750"/>
            <a:ext cx="105732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 Causal Analysis - </a:t>
            </a:r>
            <a:r>
              <a:rPr b="1" lang="en-US" sz="2800"/>
              <a:t>(Ensemble + Model Distillation / Surrogate Modeling)</a:t>
            </a:r>
            <a:endParaRPr/>
          </a:p>
        </p:txBody>
      </p:sp>
      <p:sp>
        <p:nvSpPr>
          <p:cNvPr id="187" name="Google Shape;187;p12"/>
          <p:cNvSpPr/>
          <p:nvPr/>
        </p:nvSpPr>
        <p:spPr>
          <a:xfrm flipH="1" rot="10800000">
            <a:off x="487813" y="1423766"/>
            <a:ext cx="11277300" cy="132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2"/>
          <p:cNvSpPr txBox="1"/>
          <p:nvPr/>
        </p:nvSpPr>
        <p:spPr>
          <a:xfrm>
            <a:off x="640075" y="1540700"/>
            <a:ext cx="10972800" cy="486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Step 1: High-Capacity Model Training (Ensemble)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Voting Classifier: D</a:t>
            </a:r>
            <a:r>
              <a:rPr lang="en-US" sz="1800">
                <a:solidFill>
                  <a:srgbClr val="333333"/>
                </a:solidFill>
              </a:rPr>
              <a:t>ecision Tree+ 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Random Forest + Gradient Boosting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Prioritizes F1-score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Step 2: Surrogate Model Training (Distilled Decision Tree)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Constrained tree (max_depth=4)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Target: Ensemble predictions (not ground truth)</a:t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Step 3: Rule Extraction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  -&gt; Extract paths with P(Anomaly) &gt; 0.5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Step 4: FOL Translation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33333"/>
                </a:solidFill>
              </a:rPr>
              <a:t>•   -&gt; Map thresholds to semantic predicates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Derived FOL Rules - Examples</a:t>
            </a:r>
            <a:endParaRPr/>
          </a:p>
        </p:txBody>
      </p:sp>
      <p:sp>
        <p:nvSpPr>
          <p:cNvPr id="194" name="Google Shape;194;p1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95" name="Google Shape;195;p13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3"/>
          <p:cNvSpPr txBox="1"/>
          <p:nvPr/>
        </p:nvSpPr>
        <p:spPr>
          <a:xfrm>
            <a:off x="640075" y="1463047"/>
            <a:ext cx="10972800" cy="512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Goal Failure:</a:t>
            </a:r>
            <a:endParaRPr sz="18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800">
                <a:solidFill>
                  <a:srgbClr val="333333"/>
                </a:solidFill>
              </a:rPr>
              <a:t>(Cov=17.0%, Prec=1.00, Rec=0.34, n=51), </a:t>
            </a:r>
            <a:r>
              <a:rPr lang="en-US" sz="1800">
                <a:solidFill>
                  <a:srgbClr val="333333"/>
                </a:solidFill>
              </a:rPr>
              <a:t>Confusion: TP=51, FP=0, FN=99, TN=150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800">
                <a:solidFill>
                  <a:srgbClr val="333333"/>
                </a:solidFill>
              </a:rPr>
              <a:t>        FOL: ∀t : in_corridor(t) ∧ min_wall_distance(t) &gt; 0.737 ∧ obstacle_clearance_ratio(t) &lt;= 17.970 ⇒ goal_failure</a:t>
            </a:r>
            <a:endParaRPr sz="1800">
              <a:solidFill>
                <a:srgbClr val="333333"/>
              </a:solidFill>
            </a:endParaRPr>
          </a:p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NL:  IF robot is in corridor AND min wall distance &gt; 0.737 AND obstacle clearance ratio ≤ 17.970 THEN goal_failure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Stuck:</a:t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-US" sz="1800">
                <a:solidFill>
                  <a:srgbClr val="333333"/>
                </a:solidFill>
              </a:rPr>
              <a:t>(Cov=6.7%, Prec=1.00, Rec=0.17, n=20), 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Confusion: TP=20, FP=0, FN=95, TN=185</a:t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FOL: ∀t : min_door_distance(t) &gt; 1.792 ∧ noise_level(t) &lt;= 0.015 ∧ min_door_distance(t) &gt; 2.104 ∧ room_area(t) &lt;= 25.130 ⇒ stuck</a:t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NL:  IF min door distance &gt; 1.792 AND noise level ≤ 0.015 AND min door distance &gt; 2.104 AND room area ≤ 25.130 THEN stuck</a:t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923dfd7fba_4_92"/>
          <p:cNvSpPr txBox="1"/>
          <p:nvPr/>
        </p:nvSpPr>
        <p:spPr>
          <a:xfrm>
            <a:off x="1106500" y="1302450"/>
            <a:ext cx="10177500" cy="460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H</a:t>
            </a:r>
            <a:r>
              <a:rPr lang="en-US" sz="1800">
                <a:solidFill>
                  <a:srgbClr val="333333"/>
                </a:solidFill>
              </a:rPr>
              <a:t>igh_amcl_uncertainty: 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    (Cov=4.0%, Prec=1.00, Rec=0.52, n=12), Confusion: TP=12, FP=0, FN=11, TN=277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    FOL: ∀t : obstacle_clearance_ratio(t) &gt; 31.314 ∧ total_obstacle_area(t) &lt;= 0.875 ∧ door_width(t) &gt; 0.935 ⇒ high_amcl_uncertainty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33333"/>
                </a:solidFill>
              </a:rPr>
              <a:t>    NL:  IF obstacle clearance ratio &gt; 31.314 AND total obstacle area ≤ 0.875 AND door width &gt; 0.935 THEN high_amcl_uncertainty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33333"/>
                </a:solidFill>
              </a:rPr>
              <a:t>Path_inefficiency: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33333"/>
                </a:solidFill>
              </a:rPr>
              <a:t>     (Cov=3.3%, Prec=0.70, Rec=1.00, n=10), Confusion: TP=7, FP=3, FN=0, TN=290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33333"/>
                </a:solidFill>
              </a:rPr>
              <a:t>    FOL: ∀t : obstacle_clearance_ratio(t) &lt;= 8.833 ∧ clearance_ratio(t) &gt; 6.812 ∧ min_door_distance(t) &lt;= 1.349 ⇒ path_inefficiency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33333"/>
                </a:solidFill>
              </a:rPr>
              <a:t>    NL:  IF obstacle clearance ratio ≤ 8.833 AND clearance ratio &gt; 6.812 AND min door distance ≤ 1.349 THEN path_inefficiency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</p:txBody>
      </p:sp>
      <p:sp>
        <p:nvSpPr>
          <p:cNvPr id="202" name="Google Shape;202;g3923dfd7fba_4_92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Derived FOL Rules - Examples</a:t>
            </a:r>
            <a:endParaRPr/>
          </a:p>
        </p:txBody>
      </p:sp>
      <p:sp>
        <p:nvSpPr>
          <p:cNvPr id="203" name="Google Shape;203;g3923dfd7fba_4_92"/>
          <p:cNvSpPr/>
          <p:nvPr/>
        </p:nvSpPr>
        <p:spPr>
          <a:xfrm>
            <a:off x="457200" y="1188720"/>
            <a:ext cx="11277300" cy="183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923dfd7fba_4_98"/>
          <p:cNvSpPr txBox="1"/>
          <p:nvPr/>
        </p:nvSpPr>
        <p:spPr>
          <a:xfrm>
            <a:off x="945125" y="1775000"/>
            <a:ext cx="10189200" cy="26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Isolation Forest: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(Cov=4.0%, Prec=1.00, Rec=0.27, n=12), 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Confusion: TP=12, FP=0, FN=33, TN=255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FOL: ∀t : obstacle_clearance_ratio(t) &gt; 31.314 ∧ total_obstacle_area(t) &lt;= 0.875 ∧ door_width(t) &gt; 0.935 ⇒ Isolation Forest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NL:  IF obstacle clearance ratio &gt; 31.314 AND total obstacle area ≤ 0.875 AND door width &gt; 0.935 THEN Isolation Forest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g3923dfd7fba_4_98"/>
          <p:cNvSpPr txBox="1"/>
          <p:nvPr/>
        </p:nvSpPr>
        <p:spPr>
          <a:xfrm>
            <a:off x="457200" y="365760"/>
            <a:ext cx="9144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2800" u="none" cap="none" strike="noStrike">
                <a:solidFill>
                  <a:srgbClr val="000000"/>
                </a:solidFill>
              </a:rPr>
              <a:t>Derived FOL Rules - Examples</a:t>
            </a:r>
            <a:endParaRPr/>
          </a:p>
        </p:txBody>
      </p:sp>
      <p:sp>
        <p:nvSpPr>
          <p:cNvPr id="210" name="Google Shape;210;g3923dfd7fba_4_98"/>
          <p:cNvSpPr/>
          <p:nvPr/>
        </p:nvSpPr>
        <p:spPr>
          <a:xfrm>
            <a:off x="457200" y="1188720"/>
            <a:ext cx="11277300" cy="183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g3923dfd7fba_4_0" title="model_comparison_f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7900" y="1276550"/>
            <a:ext cx="10075874" cy="4761549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g3923dfd7fba_4_0"/>
          <p:cNvSpPr/>
          <p:nvPr/>
        </p:nvSpPr>
        <p:spPr>
          <a:xfrm>
            <a:off x="457188" y="1073720"/>
            <a:ext cx="11277300" cy="18300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4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 Ideas for Future Improvements</a:t>
            </a:r>
            <a:endParaRPr/>
          </a:p>
        </p:txBody>
      </p:sp>
      <p:sp>
        <p:nvSpPr>
          <p:cNvPr id="222" name="Google Shape;222;p14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/>
          </a:p>
        </p:txBody>
      </p:sp>
      <p:sp>
        <p:nvSpPr>
          <p:cNvPr id="223" name="Google Shape;223;p14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4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Short-term</a:t>
            </a:r>
            <a:endParaRPr/>
          </a:p>
        </p:txBody>
      </p:sp>
      <p:sp>
        <p:nvSpPr>
          <p:cNvPr id="225" name="Google Shape;225;p14"/>
          <p:cNvSpPr txBox="1"/>
          <p:nvPr/>
        </p:nvSpPr>
        <p:spPr>
          <a:xfrm>
            <a:off x="640080" y="1920240"/>
            <a:ext cx="50292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600" u="none" cap="none" strike="noStrike">
                <a:solidFill>
                  <a:srgbClr val="333333"/>
                </a:solidFill>
              </a:rPr>
              <a:t>Hyperparameter tuning:</a:t>
            </a: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on surrogate tree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Optimize max_depth, min_samples_leaf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Better balance: simplicity vs accuracy</a:t>
            </a:r>
            <a:endParaRPr/>
          </a:p>
        </p:txBody>
      </p:sp>
      <p:sp>
        <p:nvSpPr>
          <p:cNvPr id="226" name="Google Shape;226;p14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Long-term</a:t>
            </a:r>
            <a:endParaRPr/>
          </a:p>
        </p:txBody>
      </p:sp>
      <p:sp>
        <p:nvSpPr>
          <p:cNvPr id="227" name="Google Shape;227;p14"/>
          <p:cNvSpPr txBox="1"/>
          <p:nvPr/>
        </p:nvSpPr>
        <p:spPr>
          <a:xfrm>
            <a:off x="6217920" y="1920240"/>
            <a:ext cx="5029200" cy="30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b="1" i="0" lang="en-US" sz="1600" u="none" cap="none" strike="noStrike">
                <a:solidFill>
                  <a:srgbClr val="333333"/>
                </a:solidFill>
              </a:rPr>
              <a:t>Feature engineering enhancements:</a:t>
            </a:r>
            <a:endParaRPr b="1" i="0" sz="1600" u="none" cap="none" strike="noStrike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    -&gt; </a:t>
            </a:r>
            <a:r>
              <a:rPr lang="en-US" sz="1600">
                <a:solidFill>
                  <a:srgbClr val="333333"/>
                </a:solidFill>
              </a:rPr>
              <a:t>Initially we also considered path length but we       removed it because of data leakage in the form of reverse causality</a:t>
            </a:r>
            <a:endParaRPr sz="16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Include temporal dynamics (robot's movement and error metrics change over time. While "Computable Functions" and "Atomic Relations" focus primarily on spatial context) </a:t>
            </a:r>
            <a:r>
              <a:rPr lang="en-US" sz="1600">
                <a:solidFill>
                  <a:srgbClr val="333333"/>
                </a:solidFill>
              </a:rPr>
              <a:t>, etc..</a:t>
            </a:r>
            <a:endParaRPr sz="1600">
              <a:solidFill>
                <a:srgbClr val="333333"/>
              </a:solidFill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Cross-validation on unseen scenarios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Sensitivity analysis of rule thresholds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6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Thank You!</a:t>
            </a:r>
            <a:endParaRPr/>
          </a:p>
        </p:txBody>
      </p:sp>
      <p:sp>
        <p:nvSpPr>
          <p:cNvPr id="233" name="Google Shape;233;p16"/>
          <p:cNvSpPr txBox="1"/>
          <p:nvPr/>
        </p:nvSpPr>
        <p:spPr>
          <a:xfrm>
            <a:off x="457200" y="3840480"/>
            <a:ext cx="112773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