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iD7d3XlHPavAwvvWtOqct76C5F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756993-92F7-49EF-9B74-DAA4B2E32409}">
  <a:tblStyle styleId="{53756993-92F7-49EF-9B74-DAA4B2E3240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23dfd7fba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923dfd7fba_4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23dfd7fba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23dfd7fb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23dfd7fba_4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923dfd7fba_4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23dfd7fba_4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923dfd7fba_4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23dfd7fba_4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23dfd7fba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Robot Navigation Anomaly Detection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Team 2 | AI Algorithms | Mid-term Presentation | January 6,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1. Requirements &amp; Changes (~1 min)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2. Metrics Overview (~2 min)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3. Interesting Insights from Anomaly Detection (~3 min)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4. Methodology for Causal Analysis &amp; Results (~3 min)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5. Ideas for Future Improvements (~1 min)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Requirements &amp; Changes</a:t>
            </a:r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~1 min</a:t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64008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Initial Approach (Problem)</a:t>
            </a: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640080" y="192024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Log-based anomaly detection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Dataset lacks RTF (Real-Time Factor) data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Logs were not structured for analysis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 Approach (Solution)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6217920" y="192024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CSV-based anomaly detection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Structured, reliable data format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Consistent across all runs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/>
        </p:nvSpPr>
        <p:spPr>
          <a:xfrm>
            <a:off x="457200" y="3657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 u="none" cap="none" strike="noStrike">
                <a:solidFill>
                  <a:srgbClr val="000000"/>
                </a:solidFill>
              </a:rPr>
              <a:t>Data Sources</a:t>
            </a:r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~1 min</a:t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poses.csv — Ground truth and estimated poses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behaviors.csv — Behavior tree execution logs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rosbag2.csv — Raw ROS topics (AMCL pose, transforms, velocity commands)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scenario.config — Scenario parameters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Performance Metrics</a:t>
            </a:r>
            <a:endParaRPr/>
          </a:p>
        </p:txBody>
      </p:sp>
      <p:sp>
        <p:nvSpPr>
          <p:cNvPr id="117" name="Google Shape;117;p5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~2 min</a:t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9" name="Google Shape;119;p5"/>
          <p:cNvGraphicFramePr/>
          <p:nvPr/>
        </p:nvGraphicFramePr>
        <p:xfrm>
          <a:off x="640080" y="1463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{53756993-92F7-49EF-9B74-DAA4B2E32409}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Category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Metric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0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Localization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mean_pos_error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Average position error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Localization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rmse_pos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Root mean square error (spike sensitive)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Localization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mean_yaw_error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Average orientation error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executed_path_length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 path traveled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path_efficiency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ratio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gt_path / executed (1 is best)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Kinematics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mean_linear_velocity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m/s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Average movement speed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Kinematics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trajectory_smoothness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rad/s2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Angular acceleration (lower = smoother)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Kinematics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duration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 run time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AMCL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mean_amcl_uncertainty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Average localization confidence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/>
        </p:nvSpPr>
        <p:spPr>
          <a:xfrm>
            <a:off x="457200" y="3657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none" cap="none" strike="noStrike">
                <a:solidFill>
                  <a:srgbClr val="000000"/>
                </a:solidFill>
              </a:rPr>
              <a:t>Anomaly Detectors</a:t>
            </a:r>
            <a:endParaRPr/>
          </a:p>
        </p:txBody>
      </p:sp>
      <p:sp>
        <p:nvSpPr>
          <p:cNvPr id="125" name="Google Shape;125;p6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~2 min</a:t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64008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Rule-Based (8 types)</a:t>
            </a:r>
            <a:endParaRPr/>
          </a:p>
        </p:txBody>
      </p:sp>
      <p:sp>
        <p:nvSpPr>
          <p:cNvPr id="128" name="Google Shape;128;p6"/>
          <p:cNvSpPr txBox="1"/>
          <p:nvPr/>
        </p:nvSpPr>
        <p:spPr>
          <a:xfrm>
            <a:off x="640080" y="192024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goal_failure - Goal not reached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no_initiation - Robot didn't start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position_error_spike - Sudden errors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stuck - Robot stopped moving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high_amcl_uncertainty - Poor localization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high_yaw_error - Orientation issues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path_inefficiency - Sub-optimal path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oscillation - Jerky motion (smoothness &gt; 2.0)</a:t>
            </a:r>
            <a:endParaRPr/>
          </a:p>
        </p:txBody>
      </p:sp>
      <p:sp>
        <p:nvSpPr>
          <p:cNvPr id="129" name="Google Shape;129;p6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ML-Based (1 type)</a:t>
            </a:r>
            <a:endParaRPr/>
          </a:p>
        </p:txBody>
      </p:sp>
      <p:sp>
        <p:nvSpPr>
          <p:cNvPr id="130" name="Google Shape;130;p6"/>
          <p:cNvSpPr txBox="1"/>
          <p:nvPr/>
        </p:nvSpPr>
        <p:spPr>
          <a:xfrm>
            <a:off x="6217920" y="1920240"/>
            <a:ext cx="50292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Isolation Forest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C</a:t>
            </a:r>
            <a:r>
              <a:rPr lang="en-US" sz="1600">
                <a:solidFill>
                  <a:srgbClr val="333333"/>
                </a:solidFill>
              </a:rPr>
              <a:t>aptures multi-metric abnormal patterns that rules may miss. </a:t>
            </a:r>
            <a:endParaRPr sz="1600">
              <a:solidFill>
                <a:srgbClr val="333333"/>
              </a:solidFill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Uses all performance metrics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23dfd7fba_4_5"/>
          <p:cNvSpPr txBox="1"/>
          <p:nvPr/>
        </p:nvSpPr>
        <p:spPr>
          <a:xfrm>
            <a:off x="457200" y="365760"/>
            <a:ext cx="9144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800">
                <a:solidFill>
                  <a:srgbClr val="333333"/>
                </a:solidFill>
              </a:rPr>
              <a:t>3. Interesting Insights from Anomaly Detection </a:t>
            </a:r>
            <a:endParaRPr b="1" sz="2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</p:txBody>
      </p:sp>
      <p:sp>
        <p:nvSpPr>
          <p:cNvPr id="136" name="Google Shape;136;g3923dfd7fba_4_5"/>
          <p:cNvSpPr txBox="1"/>
          <p:nvPr/>
        </p:nvSpPr>
        <p:spPr>
          <a:xfrm>
            <a:off x="10058400" y="365760"/>
            <a:ext cx="164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~3 min</a:t>
            </a:r>
            <a:endParaRPr/>
          </a:p>
        </p:txBody>
      </p:sp>
      <p:sp>
        <p:nvSpPr>
          <p:cNvPr id="137" name="Google Shape;137;g3923dfd7fba_4_5"/>
          <p:cNvSpPr/>
          <p:nvPr/>
        </p:nvSpPr>
        <p:spPr>
          <a:xfrm>
            <a:off x="457200" y="1188720"/>
            <a:ext cx="11277300" cy="18300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8" name="Google Shape;138;g3923dfd7fba_4_5"/>
          <p:cNvGraphicFramePr/>
          <p:nvPr/>
        </p:nvGraphicFramePr>
        <p:xfrm>
          <a:off x="640080" y="1463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{53756993-92F7-49EF-9B74-DAA4B2E32409}</a:tableStyleId>
              </a:tblPr>
              <a:tblGrid>
                <a:gridCol w="2133600"/>
                <a:gridCol w="2133600"/>
                <a:gridCol w="21336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Anomaly Type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Count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of Runs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0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goal_failure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50.0%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stuck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38.3%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Isolation Forest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15.0%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position_error_spike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5.0%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high_yaw_error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3.0%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path_inefficiency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2.3%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9" name="Google Shape;139;g3923dfd7fba_4_5"/>
          <p:cNvSpPr txBox="1"/>
          <p:nvPr/>
        </p:nvSpPr>
        <p:spPr>
          <a:xfrm>
            <a:off x="7315200" y="1463040"/>
            <a:ext cx="41148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Findings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Total occurrences: 341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goal_failure is most common (50%)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stuck follows at 38.3%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Isolation Forest catches 15%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Single run can have multiple anomalies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/>
        </p:nvSpPr>
        <p:spPr>
          <a:xfrm>
            <a:off x="457200" y="3657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2800"/>
          </a:p>
        </p:txBody>
      </p:sp>
      <p:sp>
        <p:nvSpPr>
          <p:cNvPr id="145" name="Google Shape;145;p7"/>
          <p:cNvSpPr txBox="1"/>
          <p:nvPr/>
        </p:nvSpPr>
        <p:spPr>
          <a:xfrm>
            <a:off x="10058400" y="365760"/>
            <a:ext cx="164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609450" y="1381361"/>
            <a:ext cx="109728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-US" sz="1800">
                <a:solidFill>
                  <a:srgbClr val="333333"/>
                </a:solidFill>
              </a:rPr>
              <a:t>Door-Width (120 Runs): High incidence of Goal Failure (64% of runs).</a:t>
            </a:r>
            <a:endParaRPr sz="1800">
              <a:solidFill>
                <a:srgbClr val="333333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-US" sz="1800">
                <a:solidFill>
                  <a:srgbClr val="333333"/>
                </a:solidFill>
              </a:rPr>
              <a:t>Hallway-Window (120 Runs): Goal Failure remains the top anomaly (43% of runs).</a:t>
            </a:r>
            <a:endParaRPr sz="1800">
              <a:solidFill>
                <a:srgbClr val="333333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-US" sz="1800">
                <a:solidFill>
                  <a:srgbClr val="333333"/>
                </a:solidFill>
              </a:rPr>
              <a:t>Room-Size (60 Runs): Agents frequently getting Stuck (52% of runs).</a:t>
            </a:r>
            <a:endParaRPr sz="18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 txBox="1"/>
          <p:nvPr/>
        </p:nvSpPr>
        <p:spPr>
          <a:xfrm>
            <a:off x="457200" y="3657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 u="none" cap="none" strike="noStrike">
                <a:solidFill>
                  <a:srgbClr val="000000"/>
                </a:solidFill>
              </a:rPr>
              <a:t>Insights - Anomaly Co-occurrence</a:t>
            </a:r>
            <a:endParaRPr/>
          </a:p>
        </p:txBody>
      </p:sp>
      <p:sp>
        <p:nvSpPr>
          <p:cNvPr id="153" name="Google Shape;153;p10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~3 min</a:t>
            </a:r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 txBox="1"/>
          <p:nvPr/>
        </p:nvSpPr>
        <p:spPr>
          <a:xfrm>
            <a:off x="609450" y="1682381"/>
            <a:ext cx="10972800" cy="18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position_error_spike + high_yaw_error (Jaccard = 0</a:t>
            </a: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.60)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 -&gt; Poor orientation tracking leads to position drift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high_yaw_error + path_inefficiency (Jaccar</a:t>
            </a: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 = 0.78)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 -&gt; Orientation errors cause inefficient path execution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 txBox="1"/>
          <p:nvPr/>
        </p:nvSpPr>
        <p:spPr>
          <a:xfrm>
            <a:off x="457200" y="3657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 u="none" cap="none" strike="noStrike">
                <a:solidFill>
                  <a:srgbClr val="000000"/>
                </a:solidFill>
              </a:rPr>
              <a:t>Insights - Early Detection (First 30% of Run)</a:t>
            </a:r>
            <a:endParaRPr/>
          </a:p>
        </p:txBody>
      </p:sp>
      <p:sp>
        <p:nvSpPr>
          <p:cNvPr id="161" name="Google Shape;161;p9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~3 min</a:t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3" name="Google Shape;163;p9"/>
          <p:cNvGraphicFramePr/>
          <p:nvPr/>
        </p:nvGraphicFramePr>
        <p:xfrm>
          <a:off x="640080" y="1463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{53756993-92F7-49EF-9B74-DAA4B2E32409}</a:tableStyleId>
              </a:tblPr>
              <a:tblGrid>
                <a:gridCol w="2194550"/>
                <a:gridCol w="2194550"/>
                <a:gridCol w="2194550"/>
                <a:gridCol w="2194550"/>
                <a:gridCol w="21945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Anomaly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PR-AUC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ROC-AUC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Cases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Insight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0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goal_failure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0.852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0.828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Highly predictable early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stuck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0.766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0.789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Highly predictable early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Isolation Forest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0.661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0.834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Good detection capability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/>
          <p:nvPr/>
        </p:nvSpPr>
        <p:spPr>
          <a:xfrm>
            <a:off x="457200" y="3657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 u="none" cap="none" strike="noStrike">
                <a:solidFill>
                  <a:srgbClr val="000000"/>
                </a:solidFill>
              </a:rPr>
              <a:t>Insights - Feature Signatures</a:t>
            </a:r>
            <a:endParaRPr/>
          </a:p>
        </p:txBody>
      </p:sp>
      <p:sp>
        <p:nvSpPr>
          <p:cNvPr id="169" name="Google Shape;169;p11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~3 min</a:t>
            </a:r>
            <a:endParaRPr/>
          </a:p>
        </p:txBody>
      </p:sp>
      <p:sp>
        <p:nvSpPr>
          <p:cNvPr id="170" name="Google Shape;170;p11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 txBox="1"/>
          <p:nvPr/>
        </p:nvSpPr>
        <p:spPr>
          <a:xfrm>
            <a:off x="64008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 Failure ('Lost Robot')</a:t>
            </a:r>
            <a:endParaRPr/>
          </a:p>
        </p:txBody>
      </p:sp>
      <p:sp>
        <p:nvSpPr>
          <p:cNvPr id="172" name="Google Shape;172;p11"/>
          <p:cNvSpPr txBox="1"/>
          <p:nvPr/>
        </p:nvSpPr>
        <p:spPr>
          <a:xfrm>
            <a:off x="640080" y="192024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UP amcl_std (+1.176) - Inconsistent localization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DOWN amcl_median (-0.969) - Dropping confidence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DOWN std_velocity (-0.930) - Robot slowing/stopped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Interpretation: AMCL unstable + velocity drops</a:t>
            </a:r>
            <a:endParaRPr/>
          </a:p>
        </p:txBody>
      </p:sp>
      <p:sp>
        <p:nvSpPr>
          <p:cNvPr id="173" name="Google Shape;173;p11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Stuck ('Persistent Obstacle')</a:t>
            </a:r>
            <a:endParaRPr/>
          </a:p>
        </p:txBody>
      </p:sp>
      <p:sp>
        <p:nvSpPr>
          <p:cNvPr id="174" name="Google Shape;174;p11"/>
          <p:cNvSpPr txBox="1"/>
          <p:nvPr/>
        </p:nvSpPr>
        <p:spPr>
          <a:xfrm>
            <a:off x="6217920" y="192024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UP max_pos_error (+1.355) - Far from target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UP duration (+1.294) - No progress over time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DOWN std_pos_error (-1.279) - Constant high error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Interpretation: Immobile behind obstacle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23dfd7fba_0_4"/>
          <p:cNvSpPr txBox="1"/>
          <p:nvPr/>
        </p:nvSpPr>
        <p:spPr>
          <a:xfrm>
            <a:off x="1169825" y="1670375"/>
            <a:ext cx="50889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position_error_spike: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↑ mean_lin_acc: coef=+2.195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↑ std_velocity: coef=+1.844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↑ stuck_ratio: coef=+1.716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923dfd7fba_0_4"/>
          <p:cNvSpPr txBox="1"/>
          <p:nvPr/>
        </p:nvSpPr>
        <p:spPr>
          <a:xfrm>
            <a:off x="6525575" y="1571950"/>
            <a:ext cx="52620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high_amcl_uncertainty: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↑ pos_error_trend: coef=+1.653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↑ mean_lin_acc: coef=+1.484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↓ amcl_mean: coef=-1.210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 txBox="1"/>
          <p:nvPr/>
        </p:nvSpPr>
        <p:spPr>
          <a:xfrm>
            <a:off x="457200" y="365750"/>
            <a:ext cx="10573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Causal Analysis - </a:t>
            </a:r>
            <a:r>
              <a:rPr b="1" lang="en-US" sz="2800"/>
              <a:t>(Ensemble + Model Distillation / Surrogate Modeling)</a:t>
            </a:r>
            <a:endParaRPr/>
          </a:p>
        </p:txBody>
      </p:sp>
      <p:sp>
        <p:nvSpPr>
          <p:cNvPr id="186" name="Google Shape;186;p12"/>
          <p:cNvSpPr/>
          <p:nvPr/>
        </p:nvSpPr>
        <p:spPr>
          <a:xfrm flipH="1" rot="10800000">
            <a:off x="487813" y="1423766"/>
            <a:ext cx="11277300" cy="13200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 txBox="1"/>
          <p:nvPr/>
        </p:nvSpPr>
        <p:spPr>
          <a:xfrm>
            <a:off x="640075" y="1540700"/>
            <a:ext cx="109728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Step 1: High-Capacity Model Training (Ensemble)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 -&gt; Voting Classifier: D</a:t>
            </a:r>
            <a:r>
              <a:rPr lang="en-US" sz="1800">
                <a:solidFill>
                  <a:srgbClr val="333333"/>
                </a:solidFill>
              </a:rPr>
              <a:t>ecision Tree+ </a:t>
            </a: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Random Forest + Gradient Boosting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 -&gt; Prioritizes F1-score 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Step 2: Surrogate Model Training (Distilled Decision Tree)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 -&gt; Constrained tree (max_depth=4)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 -&gt; Target: Ensemble predictions (not ground truth)</a:t>
            </a:r>
            <a:endParaRPr b="0" i="0" sz="18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rgbClr val="333333"/>
                </a:solidFill>
              </a:rPr>
              <a:t>Step 3: Rule Extraction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rgbClr val="333333"/>
                </a:solidFill>
              </a:rPr>
              <a:t>•   -&gt; Extract paths with P(Anomaly) &gt; 0.5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rgbClr val="333333"/>
                </a:solidFill>
              </a:rPr>
              <a:t>•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rgbClr val="333333"/>
                </a:solidFill>
              </a:rPr>
              <a:t>• Step 4: FOL Translation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33"/>
                </a:solidFill>
              </a:rPr>
              <a:t>•   -&gt; Map thresholds to semantic predicates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"/>
          <p:cNvSpPr txBox="1"/>
          <p:nvPr/>
        </p:nvSpPr>
        <p:spPr>
          <a:xfrm>
            <a:off x="457200" y="3657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 u="none" cap="none" strike="noStrike">
                <a:solidFill>
                  <a:srgbClr val="000000"/>
                </a:solidFill>
              </a:rPr>
              <a:t>Derived FOL Rules - Examples</a:t>
            </a:r>
            <a:endParaRPr/>
          </a:p>
        </p:txBody>
      </p:sp>
      <p:sp>
        <p:nvSpPr>
          <p:cNvPr id="193" name="Google Shape;193;p1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~3 min</a:t>
            </a:r>
            <a:endParaRPr/>
          </a:p>
        </p:txBody>
      </p:sp>
      <p:sp>
        <p:nvSpPr>
          <p:cNvPr id="194" name="Google Shape;194;p13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 txBox="1"/>
          <p:nvPr/>
        </p:nvSpPr>
        <p:spPr>
          <a:xfrm>
            <a:off x="640075" y="1463047"/>
            <a:ext cx="10972800" cy="51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Goal Failure:</a:t>
            </a:r>
            <a:endParaRPr sz="1800">
              <a:solidFill>
                <a:srgbClr val="333333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33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333333"/>
                </a:solidFill>
              </a:rPr>
              <a:t>(Cov=17.0%, Prec=1.00, Rec=0.34, n=51), </a:t>
            </a:r>
            <a:r>
              <a:rPr lang="en-US" sz="1800">
                <a:solidFill>
                  <a:srgbClr val="333333"/>
                </a:solidFill>
              </a:rPr>
              <a:t>Confusion: TP=51, FP=0, FN=99, TN=150</a:t>
            </a:r>
            <a:endParaRPr sz="18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333333"/>
                </a:solidFill>
              </a:rPr>
              <a:t>        FOL: ∀t : in_corridor(t) ∧ min_wall_distance(t) &gt; 0.737 ∧ obstacle_clearance_ratio(t) &lt;= 17.970 ⇒ goal_failure</a:t>
            </a:r>
            <a:endParaRPr sz="1800">
              <a:solidFill>
                <a:srgbClr val="333333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33333"/>
                </a:solidFill>
              </a:rPr>
              <a:t>NL:  IF robot is in corridor AND min wall distance &gt; 0.737 AND obstacle clearance ratio ≤ 17.970 THEN goal_failure</a:t>
            </a:r>
            <a:endParaRPr sz="18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333333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Stuck:</a:t>
            </a:r>
            <a:endParaRPr b="0" i="0" sz="18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800">
                <a:solidFill>
                  <a:srgbClr val="333333"/>
                </a:solidFill>
              </a:rPr>
              <a:t>(Cov=6.7%, Prec=1.00, Rec=0.17, n=20), </a:t>
            </a: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Confusion: TP=20, FP=0, FN=95, TN=185</a:t>
            </a:r>
            <a:endParaRPr b="0" i="0" sz="18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FOL: ∀t : min_door_distance(t) &gt; 1.792 ∧ noise_level(t) &lt;= 0.015 ∧ min_door_distance(t) &gt; 2.104 ∧ room_area(t) &lt;= 25.130 ⇒ stuck</a:t>
            </a:r>
            <a:endParaRPr b="0" i="0" sz="18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NL:  IF min door distance &gt; 1.792 AND noise level ≤ 0.015 AND min door distance &gt; 2.104 AND room area ≤ 25.130 THEN stuck</a:t>
            </a:r>
            <a:endParaRPr b="0" i="0" sz="18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333333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23dfd7fba_4_92"/>
          <p:cNvSpPr txBox="1"/>
          <p:nvPr/>
        </p:nvSpPr>
        <p:spPr>
          <a:xfrm>
            <a:off x="1106500" y="1302450"/>
            <a:ext cx="101775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33333"/>
                </a:solidFill>
              </a:rPr>
              <a:t>H</a:t>
            </a:r>
            <a:r>
              <a:rPr lang="en-US" sz="1800">
                <a:solidFill>
                  <a:srgbClr val="333333"/>
                </a:solidFill>
              </a:rPr>
              <a:t>igh_amcl_uncertainty: </a:t>
            </a:r>
            <a:endParaRPr sz="18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33333"/>
                </a:solidFill>
              </a:rPr>
              <a:t>    (Cov=4.0%, Prec=1.00, Rec=0.52, n=12), Confusion: TP=12, FP=0, FN=11, TN=277</a:t>
            </a:r>
            <a:endParaRPr sz="18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33333"/>
                </a:solidFill>
              </a:rPr>
              <a:t>    FOL: ∀t : obstacle_clearance_ratio(t) &gt; 31.314 ∧ total_obstacle_area(t) &lt;= 0.875 ∧ door_width(t) &gt; 0.935 ⇒ high_amcl_uncertainty</a:t>
            </a:r>
            <a:endParaRPr sz="18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33"/>
                </a:solidFill>
              </a:rPr>
              <a:t>    NL:  IF obstacle clearance ratio &gt; 31.314 AND total obstacle area ≤ 0.875 AND door width &gt; 0.935 THEN high_amcl_uncertainty</a:t>
            </a:r>
            <a:endParaRPr sz="18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33"/>
                </a:solidFill>
              </a:rPr>
              <a:t>Path_inefficiency:</a:t>
            </a:r>
            <a:endParaRPr sz="18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33"/>
                </a:solidFill>
              </a:rPr>
              <a:t>     (Cov=3.3%, Prec=0.70, Rec=1.00, n=10), Confusion: TP=7, FP=3, FN=0, TN=290</a:t>
            </a:r>
            <a:endParaRPr sz="18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33"/>
                </a:solidFill>
              </a:rPr>
              <a:t>    FOL: ∀t : obstacle_clearance_ratio(t) &lt;= 8.833 ∧ clearance_ratio(t) &gt; 6.812 ∧ min_door_distance(t) &lt;= 1.349 ⇒ path_inefficiency</a:t>
            </a:r>
            <a:endParaRPr sz="18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33"/>
                </a:solidFill>
              </a:rPr>
              <a:t>    NL:  IF obstacle clearance ratio ≤ 8.833 AND clearance ratio &gt; 6.812 AND min door distance ≤ 1.349 THEN path_inefficiency</a:t>
            </a:r>
            <a:endParaRPr sz="18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333333"/>
              </a:solidFill>
            </a:endParaRPr>
          </a:p>
        </p:txBody>
      </p:sp>
      <p:sp>
        <p:nvSpPr>
          <p:cNvPr id="201" name="Google Shape;201;g3923dfd7fba_4_92"/>
          <p:cNvSpPr txBox="1"/>
          <p:nvPr/>
        </p:nvSpPr>
        <p:spPr>
          <a:xfrm>
            <a:off x="457200" y="3657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 u="none" cap="none" strike="noStrike">
                <a:solidFill>
                  <a:srgbClr val="000000"/>
                </a:solidFill>
              </a:rPr>
              <a:t>Derived FOL Rules - Examples</a:t>
            </a:r>
            <a:endParaRPr/>
          </a:p>
        </p:txBody>
      </p:sp>
      <p:sp>
        <p:nvSpPr>
          <p:cNvPr id="202" name="Google Shape;202;g3923dfd7fba_4_92"/>
          <p:cNvSpPr/>
          <p:nvPr/>
        </p:nvSpPr>
        <p:spPr>
          <a:xfrm>
            <a:off x="457200" y="1188720"/>
            <a:ext cx="11277300" cy="18300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23dfd7fba_4_98"/>
          <p:cNvSpPr txBox="1"/>
          <p:nvPr/>
        </p:nvSpPr>
        <p:spPr>
          <a:xfrm>
            <a:off x="945125" y="1775000"/>
            <a:ext cx="101892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 Forest: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(Cov=4.0%, Prec=1.00, Rec=0.27, n=12),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Confusion: TP=12, FP=0, FN=33, TN=255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FOL: ∀t : obstacle_clearance_ratio(t) &gt; 31.314 ∧ total_obstacle_area(t) &lt;= 0.875 ∧ door_width(t) &gt; 0.935 ⇒ Isolation Forest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NL:  IF obstacle clearance ratio &gt; 31.314 AND total obstacle area ≤ 0.875 AND door width &gt; 0.935 THEN Isolation Forest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923dfd7fba_4_98"/>
          <p:cNvSpPr txBox="1"/>
          <p:nvPr/>
        </p:nvSpPr>
        <p:spPr>
          <a:xfrm>
            <a:off x="457200" y="3657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 u="none" cap="none" strike="noStrike">
                <a:solidFill>
                  <a:srgbClr val="000000"/>
                </a:solidFill>
              </a:rPr>
              <a:t>Derived FOL Rules - Examples</a:t>
            </a:r>
            <a:endParaRPr/>
          </a:p>
        </p:txBody>
      </p:sp>
      <p:sp>
        <p:nvSpPr>
          <p:cNvPr id="209" name="Google Shape;209;g3923dfd7fba_4_98"/>
          <p:cNvSpPr/>
          <p:nvPr/>
        </p:nvSpPr>
        <p:spPr>
          <a:xfrm>
            <a:off x="457200" y="1188720"/>
            <a:ext cx="11277300" cy="18300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g3923dfd7fba_4_0" title="model_comparison_f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7900" y="1276550"/>
            <a:ext cx="10075874" cy="476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Ideas for Future Improvements</a:t>
            </a:r>
            <a:endParaRPr/>
          </a:p>
        </p:txBody>
      </p:sp>
      <p:sp>
        <p:nvSpPr>
          <p:cNvPr id="220" name="Google Shape;220;p14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~1 min</a:t>
            </a:r>
            <a:endParaRPr/>
          </a:p>
        </p:txBody>
      </p:sp>
      <p:sp>
        <p:nvSpPr>
          <p:cNvPr id="221" name="Google Shape;221;p14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4"/>
          <p:cNvSpPr txBox="1"/>
          <p:nvPr/>
        </p:nvSpPr>
        <p:spPr>
          <a:xfrm>
            <a:off x="64008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Short-term</a:t>
            </a:r>
            <a:endParaRPr/>
          </a:p>
        </p:txBody>
      </p:sp>
      <p:sp>
        <p:nvSpPr>
          <p:cNvPr id="223" name="Google Shape;223;p14"/>
          <p:cNvSpPr txBox="1"/>
          <p:nvPr/>
        </p:nvSpPr>
        <p:spPr>
          <a:xfrm>
            <a:off x="640080" y="192024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Hyperparameter tuning on surrogate tree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Optimize max_depth, min_samples_leaf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Better balance: simplicity vs accuracy</a:t>
            </a:r>
            <a:endParaRPr/>
          </a:p>
        </p:txBody>
      </p:sp>
      <p:sp>
        <p:nvSpPr>
          <p:cNvPr id="224" name="Google Shape;224;p14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Long-term</a:t>
            </a:r>
            <a:endParaRPr/>
          </a:p>
        </p:txBody>
      </p:sp>
      <p:sp>
        <p:nvSpPr>
          <p:cNvPr id="225" name="Google Shape;225;p14"/>
          <p:cNvSpPr txBox="1"/>
          <p:nvPr/>
        </p:nvSpPr>
        <p:spPr>
          <a:xfrm>
            <a:off x="6217920" y="1920240"/>
            <a:ext cx="50292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Feature engineering enhancements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 -&gt; Add more obstacle-related features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  -&gt; Include temporal dynamics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Cross-validation on unseen scenarios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Sensitivity analysis of rule thresholds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/>
          </a:p>
        </p:txBody>
      </p:sp>
      <p:sp>
        <p:nvSpPr>
          <p:cNvPr id="231" name="Google Shape;231;p16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