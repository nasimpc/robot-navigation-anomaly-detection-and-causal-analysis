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7" roundtripDataSignature="AMtx7mjj3I9WCWnAQYE5GiaWc9iDLILi9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D392F20-7D84-41F4-8EEE-C95BBEAEBAE5}">
  <a:tblStyle styleId="{0D392F20-7D84-41F4-8EEE-C95BBEAEBAE5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7" Type="http://customschemas.google.com/relationships/presentationmetadata" Target="meta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923dfd7fba_0_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923dfd7fba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923dfd7fba_0_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923dfd7fba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923dfd7fba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923dfd7fb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923dfd7fba_4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" name="Google Shape;208;g3923dfd7fba_4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9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9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0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1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21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2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22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3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23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23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3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5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5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5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6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6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6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7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8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8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7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Robot Navigation Anomaly Detection</a:t>
            </a:r>
            <a:endParaRPr/>
          </a:p>
        </p:txBody>
      </p:sp>
      <p:sp>
        <p:nvSpPr>
          <p:cNvPr id="85" name="Google Shape;85;p1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Team 2 | AI Algorithms | Mid-term Presentation | January 6, 2026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"/>
          <p:cNvSpPr txBox="1"/>
          <p:nvPr/>
        </p:nvSpPr>
        <p:spPr>
          <a:xfrm>
            <a:off x="457200" y="365760"/>
            <a:ext cx="91440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Agenda</a:t>
            </a:r>
            <a:endParaRPr/>
          </a:p>
        </p:txBody>
      </p:sp>
      <p:sp>
        <p:nvSpPr>
          <p:cNvPr id="91" name="Google Shape;91;p2"/>
          <p:cNvSpPr/>
          <p:nvPr/>
        </p:nvSpPr>
        <p:spPr>
          <a:xfrm>
            <a:off x="457200" y="1188720"/>
            <a:ext cx="11277295" cy="18288"/>
          </a:xfrm>
          <a:prstGeom prst="rect">
            <a:avLst/>
          </a:prstGeom>
          <a:solidFill>
            <a:srgbClr val="C8C8C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2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1. Requirements &amp; Changes (~1 min)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2. Metrics Overview (~2 min)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3. Interesting Insights from Anomaly Detection (~3 min)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4. Methodology for Causal Analysis &amp; Results (~3 min)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5. Ideas for Future Improvements (~1 min)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3"/>
          <p:cNvSpPr txBox="1"/>
          <p:nvPr/>
        </p:nvSpPr>
        <p:spPr>
          <a:xfrm>
            <a:off x="457200" y="365760"/>
            <a:ext cx="91440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1. Requirements &amp; Changes</a:t>
            </a:r>
            <a:endParaRPr/>
          </a:p>
        </p:txBody>
      </p:sp>
      <p:sp>
        <p:nvSpPr>
          <p:cNvPr id="98" name="Google Shape;98;p3"/>
          <p:cNvSpPr txBox="1"/>
          <p:nvPr/>
        </p:nvSpPr>
        <p:spPr>
          <a:xfrm>
            <a:off x="10058400" y="36576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~1 min</a:t>
            </a:r>
            <a:endParaRPr/>
          </a:p>
        </p:txBody>
      </p:sp>
      <p:sp>
        <p:nvSpPr>
          <p:cNvPr id="99" name="Google Shape;99;p3"/>
          <p:cNvSpPr/>
          <p:nvPr/>
        </p:nvSpPr>
        <p:spPr>
          <a:xfrm>
            <a:off x="457200" y="1188720"/>
            <a:ext cx="11277295" cy="18288"/>
          </a:xfrm>
          <a:prstGeom prst="rect">
            <a:avLst/>
          </a:prstGeom>
          <a:solidFill>
            <a:srgbClr val="C8C8C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3"/>
          <p:cNvSpPr txBox="1"/>
          <p:nvPr/>
        </p:nvSpPr>
        <p:spPr>
          <a:xfrm>
            <a:off x="640080" y="1371600"/>
            <a:ext cx="5029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Initial Approach (Problem)</a:t>
            </a:r>
            <a:endParaRPr/>
          </a:p>
        </p:txBody>
      </p:sp>
      <p:sp>
        <p:nvSpPr>
          <p:cNvPr id="101" name="Google Shape;101;p3"/>
          <p:cNvSpPr txBox="1"/>
          <p:nvPr/>
        </p:nvSpPr>
        <p:spPr>
          <a:xfrm>
            <a:off x="640080" y="192024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Log-based anomaly detection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Dataset lacks RTF (Real-Time Factor) data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Logs were not structured for analysis</a:t>
            </a:r>
            <a:endParaRPr/>
          </a:p>
        </p:txBody>
      </p:sp>
      <p:sp>
        <p:nvSpPr>
          <p:cNvPr id="102" name="Google Shape;102;p3"/>
          <p:cNvSpPr txBox="1"/>
          <p:nvPr/>
        </p:nvSpPr>
        <p:spPr>
          <a:xfrm>
            <a:off x="6217920" y="1371600"/>
            <a:ext cx="5029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Current Approach (Solution)</a:t>
            </a:r>
            <a:endParaRPr/>
          </a:p>
        </p:txBody>
      </p:sp>
      <p:sp>
        <p:nvSpPr>
          <p:cNvPr id="103" name="Google Shape;103;p3"/>
          <p:cNvSpPr txBox="1"/>
          <p:nvPr/>
        </p:nvSpPr>
        <p:spPr>
          <a:xfrm>
            <a:off x="6217920" y="192024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CSV-based anomaly detection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Structured, reliable data format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Consistent across all runs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4"/>
          <p:cNvSpPr txBox="1"/>
          <p:nvPr/>
        </p:nvSpPr>
        <p:spPr>
          <a:xfrm>
            <a:off x="457200" y="365760"/>
            <a:ext cx="91440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Data Sources</a:t>
            </a:r>
            <a:endParaRPr/>
          </a:p>
        </p:txBody>
      </p:sp>
      <p:sp>
        <p:nvSpPr>
          <p:cNvPr id="109" name="Google Shape;109;p4"/>
          <p:cNvSpPr txBox="1"/>
          <p:nvPr/>
        </p:nvSpPr>
        <p:spPr>
          <a:xfrm>
            <a:off x="10058400" y="36576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~1 min</a:t>
            </a:r>
            <a:endParaRPr/>
          </a:p>
        </p:txBody>
      </p:sp>
      <p:sp>
        <p:nvSpPr>
          <p:cNvPr id="110" name="Google Shape;110;p4"/>
          <p:cNvSpPr/>
          <p:nvPr/>
        </p:nvSpPr>
        <p:spPr>
          <a:xfrm>
            <a:off x="457200" y="1188720"/>
            <a:ext cx="11277295" cy="18288"/>
          </a:xfrm>
          <a:prstGeom prst="rect">
            <a:avLst/>
          </a:prstGeom>
          <a:solidFill>
            <a:srgbClr val="C8C8C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4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poses.csv — Ground truth and estimated poses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behaviors.csv — Behavior tree execution logs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rosbag2.csv — Raw ROS topics (AMCL pose, transforms, velocity commands)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scenario.config — Scenario parameters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"/>
          <p:cNvSpPr txBox="1"/>
          <p:nvPr/>
        </p:nvSpPr>
        <p:spPr>
          <a:xfrm>
            <a:off x="457200" y="365760"/>
            <a:ext cx="91440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2. Performance Metrics</a:t>
            </a:r>
            <a:endParaRPr/>
          </a:p>
        </p:txBody>
      </p:sp>
      <p:sp>
        <p:nvSpPr>
          <p:cNvPr id="117" name="Google Shape;117;p5"/>
          <p:cNvSpPr txBox="1"/>
          <p:nvPr/>
        </p:nvSpPr>
        <p:spPr>
          <a:xfrm>
            <a:off x="10058400" y="36576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~2 min</a:t>
            </a:r>
            <a:endParaRPr/>
          </a:p>
        </p:txBody>
      </p:sp>
      <p:sp>
        <p:nvSpPr>
          <p:cNvPr id="118" name="Google Shape;118;p5"/>
          <p:cNvSpPr/>
          <p:nvPr/>
        </p:nvSpPr>
        <p:spPr>
          <a:xfrm>
            <a:off x="457200" y="1188720"/>
            <a:ext cx="11277295" cy="18288"/>
          </a:xfrm>
          <a:prstGeom prst="rect">
            <a:avLst/>
          </a:prstGeom>
          <a:solidFill>
            <a:srgbClr val="C8C8C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19" name="Google Shape;119;p5"/>
          <p:cNvGraphicFramePr/>
          <p:nvPr/>
        </p:nvGraphicFramePr>
        <p:xfrm>
          <a:off x="640080" y="146304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{0D392F20-7D84-41F4-8EEE-C95BBEAEBAE5}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Category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Metric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Unit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Description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0F0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Localization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mean_pos_error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Average position error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Localization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rmse_pos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Root mean square error (spike sensitive)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Localization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mean_yaw_error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rad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Average orientation error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Path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executed_path_length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 path traveled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Path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path_efficiency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ratio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gt_path / executed (1 is best)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Kinematics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mean_linear_velocity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m/s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Average movement speed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Kinematics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trajectory_smoothness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rad/s2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Angular acceleration (lower = smoother)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Kinematics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duration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 run time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AMCL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mean_amcl_uncertainty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Average localization confidence</a:t>
                      </a:r>
                      <a:endParaRPr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6"/>
          <p:cNvSpPr txBox="1"/>
          <p:nvPr/>
        </p:nvSpPr>
        <p:spPr>
          <a:xfrm>
            <a:off x="457200" y="365760"/>
            <a:ext cx="91440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2. Anomaly Detectors</a:t>
            </a:r>
            <a:endParaRPr/>
          </a:p>
        </p:txBody>
      </p:sp>
      <p:sp>
        <p:nvSpPr>
          <p:cNvPr id="125" name="Google Shape;125;p6"/>
          <p:cNvSpPr txBox="1"/>
          <p:nvPr/>
        </p:nvSpPr>
        <p:spPr>
          <a:xfrm>
            <a:off x="10058400" y="36576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~2 min</a:t>
            </a:r>
            <a:endParaRPr/>
          </a:p>
        </p:txBody>
      </p:sp>
      <p:sp>
        <p:nvSpPr>
          <p:cNvPr id="126" name="Google Shape;126;p6"/>
          <p:cNvSpPr/>
          <p:nvPr/>
        </p:nvSpPr>
        <p:spPr>
          <a:xfrm>
            <a:off x="457200" y="1188720"/>
            <a:ext cx="11277295" cy="18288"/>
          </a:xfrm>
          <a:prstGeom prst="rect">
            <a:avLst/>
          </a:prstGeom>
          <a:solidFill>
            <a:srgbClr val="C8C8C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6"/>
          <p:cNvSpPr txBox="1"/>
          <p:nvPr/>
        </p:nvSpPr>
        <p:spPr>
          <a:xfrm>
            <a:off x="640080" y="1371600"/>
            <a:ext cx="5029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Rule-Based (8 types)</a:t>
            </a:r>
            <a:endParaRPr/>
          </a:p>
        </p:txBody>
      </p:sp>
      <p:sp>
        <p:nvSpPr>
          <p:cNvPr id="128" name="Google Shape;128;p6"/>
          <p:cNvSpPr txBox="1"/>
          <p:nvPr/>
        </p:nvSpPr>
        <p:spPr>
          <a:xfrm>
            <a:off x="640080" y="192024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goal_failure - Goal not reached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no_initiation - Robot didn't start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position_error_spike - Sudden errors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stuck - Robot stopped moving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high_amcl_uncertainty - Poor localization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high_yaw_error - Orientation issues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path_inefficiency - Sub-optimal path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oscillation - Jerky motion (smoothness &gt; 2.0)</a:t>
            </a:r>
            <a:endParaRPr/>
          </a:p>
        </p:txBody>
      </p:sp>
      <p:sp>
        <p:nvSpPr>
          <p:cNvPr id="129" name="Google Shape;129;p6"/>
          <p:cNvSpPr txBox="1"/>
          <p:nvPr/>
        </p:nvSpPr>
        <p:spPr>
          <a:xfrm>
            <a:off x="6217920" y="1371600"/>
            <a:ext cx="5029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ML-Based (1 type)</a:t>
            </a:r>
            <a:endParaRPr/>
          </a:p>
        </p:txBody>
      </p:sp>
      <p:sp>
        <p:nvSpPr>
          <p:cNvPr id="130" name="Google Shape;130;p6"/>
          <p:cNvSpPr txBox="1"/>
          <p:nvPr/>
        </p:nvSpPr>
        <p:spPr>
          <a:xfrm>
            <a:off x="6217920" y="192024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Isolation Forest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Captures complex multi-metric patterns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Uses all performance metrics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Complements rule-based detection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7"/>
          <p:cNvSpPr txBox="1"/>
          <p:nvPr/>
        </p:nvSpPr>
        <p:spPr>
          <a:xfrm>
            <a:off x="457200" y="365760"/>
            <a:ext cx="9144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274320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800">
                <a:solidFill>
                  <a:srgbClr val="333333"/>
                </a:solidFill>
              </a:rPr>
              <a:t>3. </a:t>
            </a:r>
            <a:r>
              <a:rPr lang="en-US" sz="1800">
                <a:solidFill>
                  <a:srgbClr val="333333"/>
                </a:solidFill>
              </a:rPr>
              <a:t>Interesting Insights from Anomaly Detection </a:t>
            </a:r>
            <a:endParaRPr/>
          </a:p>
        </p:txBody>
      </p:sp>
      <p:sp>
        <p:nvSpPr>
          <p:cNvPr id="136" name="Google Shape;136;p7"/>
          <p:cNvSpPr txBox="1"/>
          <p:nvPr/>
        </p:nvSpPr>
        <p:spPr>
          <a:xfrm>
            <a:off x="10058400" y="365760"/>
            <a:ext cx="1645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"/>
          <p:cNvSpPr/>
          <p:nvPr/>
        </p:nvSpPr>
        <p:spPr>
          <a:xfrm>
            <a:off x="457200" y="1188720"/>
            <a:ext cx="11277295" cy="18288"/>
          </a:xfrm>
          <a:prstGeom prst="rect">
            <a:avLst/>
          </a:prstGeom>
          <a:solidFill>
            <a:srgbClr val="C8C8C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7"/>
          <p:cNvSpPr txBox="1"/>
          <p:nvPr/>
        </p:nvSpPr>
        <p:spPr>
          <a:xfrm>
            <a:off x="609450" y="1381361"/>
            <a:ext cx="10972800" cy="203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29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800"/>
              <a:buChar char="●"/>
            </a:pPr>
            <a:r>
              <a:rPr lang="en-US" sz="1800">
                <a:solidFill>
                  <a:srgbClr val="333333"/>
                </a:solidFill>
              </a:rPr>
              <a:t>Door-Width (120 Runs): High incidence of Goal Failure (64% of runs).</a:t>
            </a:r>
            <a:endParaRPr sz="1800">
              <a:solidFill>
                <a:srgbClr val="333333"/>
              </a:solidFill>
            </a:endParaRPr>
          </a:p>
          <a:p>
            <a:pPr indent="-3429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800"/>
              <a:buChar char="●"/>
            </a:pPr>
            <a:r>
              <a:rPr lang="en-US" sz="1800">
                <a:solidFill>
                  <a:srgbClr val="333333"/>
                </a:solidFill>
              </a:rPr>
              <a:t>Hallway-Window (120 Runs): Goal Failure remains the top anomaly (43% of runs).</a:t>
            </a:r>
            <a:endParaRPr sz="1800">
              <a:solidFill>
                <a:srgbClr val="333333"/>
              </a:solidFill>
            </a:endParaRPr>
          </a:p>
          <a:p>
            <a:pPr indent="-342900" lvl="0" marL="45720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800"/>
              <a:buChar char="●"/>
            </a:pPr>
            <a:r>
              <a:rPr lang="en-US" sz="1800">
                <a:solidFill>
                  <a:srgbClr val="333333"/>
                </a:solidFill>
              </a:rPr>
              <a:t>Room-Size (60 Runs): Agents frequently getting Stuck (52% of runs).</a:t>
            </a:r>
            <a:endParaRPr sz="1800">
              <a:solidFill>
                <a:srgbClr val="333333"/>
              </a:solidFill>
            </a:endParaRPr>
          </a:p>
          <a:p>
            <a:pPr indent="0" lvl="0" marL="0" rt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>
              <a:solidFill>
                <a:srgbClr val="333333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### 1. Anomaly Frequency by Type&#10;| Anomaly Type | Count | % of Runs |&#10;|--------------|-------|-----------|&#10;| goal_failure | 150 | 50.0% |&#10;| stuck | 115 | 38.3% |&#10;| Isolation Forest | 45 | 15.0% |&#10;| position_error_spike | 15 | 5.0% |&#10;| high_yaw_error | 9 | 3.0% |&#10;| path_inefficiency | 7 | 2.3% |&#10;&#10;Total anomaly occurrences - 341 &#10;&#10;**Key Finding:** `goal_failure` is the most common anomaly (50%), followed by `stuck` (38.3%). The ML-based Isolation Forest detector catches 15% of runs as anomalous." id="143" name="Google Shape;143;g3923dfd7fba_0_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26672"/>
            <a:ext cx="12191409" cy="68045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"/>
          <p:cNvSpPr txBox="1"/>
          <p:nvPr/>
        </p:nvSpPr>
        <p:spPr>
          <a:xfrm>
            <a:off x="457200" y="365760"/>
            <a:ext cx="91440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3. Insights - Scenario Categories</a:t>
            </a:r>
            <a:endParaRPr/>
          </a:p>
        </p:txBody>
      </p:sp>
      <p:sp>
        <p:nvSpPr>
          <p:cNvPr id="149" name="Google Shape;149;p8"/>
          <p:cNvSpPr txBox="1"/>
          <p:nvPr/>
        </p:nvSpPr>
        <p:spPr>
          <a:xfrm>
            <a:off x="10058400" y="36576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~3 min</a:t>
            </a:r>
            <a:endParaRPr/>
          </a:p>
        </p:txBody>
      </p:sp>
      <p:sp>
        <p:nvSpPr>
          <p:cNvPr id="150" name="Google Shape;150;p8"/>
          <p:cNvSpPr/>
          <p:nvPr/>
        </p:nvSpPr>
        <p:spPr>
          <a:xfrm>
            <a:off x="457200" y="1188720"/>
            <a:ext cx="11277295" cy="18288"/>
          </a:xfrm>
          <a:prstGeom prst="rect">
            <a:avLst/>
          </a:prstGeom>
          <a:solidFill>
            <a:srgbClr val="C8C8C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8"/>
          <p:cNvSpPr txBox="1"/>
          <p:nvPr/>
        </p:nvSpPr>
        <p:spPr>
          <a:xfrm>
            <a:off x="640080" y="1463040"/>
            <a:ext cx="10972800" cy="330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Door-width scenarios (120 runs):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 -&gt; Narrow doors are primary failure points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 -&gt; Robots struggle with precise navigation through tight passages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Hallway-window scenarios (120 runs):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 -&gt; Window features confuse laser-based localization (AMCL)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Room-size scenarios (60 runs):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 -&gt; Larger rooms with fewer features -&gt; higher localization uncertainty</a:t>
            </a:r>
            <a:endParaRPr b="0" i="0" sz="1800" u="none" cap="none" strike="noStrike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333333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>
              <a:solidFill>
                <a:srgbClr val="333333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10"/>
          <p:cNvSpPr txBox="1"/>
          <p:nvPr/>
        </p:nvSpPr>
        <p:spPr>
          <a:xfrm>
            <a:off x="457200" y="365760"/>
            <a:ext cx="91440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3. Insights - Anomaly Co-occurrence</a:t>
            </a:r>
            <a:endParaRPr/>
          </a:p>
        </p:txBody>
      </p:sp>
      <p:sp>
        <p:nvSpPr>
          <p:cNvPr id="157" name="Google Shape;157;p10"/>
          <p:cNvSpPr txBox="1"/>
          <p:nvPr/>
        </p:nvSpPr>
        <p:spPr>
          <a:xfrm>
            <a:off x="10058400" y="36576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~3 min</a:t>
            </a:r>
            <a:endParaRPr/>
          </a:p>
        </p:txBody>
      </p:sp>
      <p:sp>
        <p:nvSpPr>
          <p:cNvPr id="158" name="Google Shape;158;p10"/>
          <p:cNvSpPr/>
          <p:nvPr/>
        </p:nvSpPr>
        <p:spPr>
          <a:xfrm>
            <a:off x="457200" y="1188720"/>
            <a:ext cx="11277295" cy="18288"/>
          </a:xfrm>
          <a:prstGeom prst="rect">
            <a:avLst/>
          </a:prstGeom>
          <a:solidFill>
            <a:srgbClr val="C8C8C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10"/>
          <p:cNvSpPr txBox="1"/>
          <p:nvPr/>
        </p:nvSpPr>
        <p:spPr>
          <a:xfrm>
            <a:off x="609450" y="1682381"/>
            <a:ext cx="10972800" cy="182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position_error_spike + high_yaw_error (Jaccard = 0</a:t>
            </a: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.60)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 -&gt; Poor orientation tracking leads to position drift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high_yaw_error + path_inefficiency (Jaccar</a:t>
            </a: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d = 0.78)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 -&gt; Orientation errors cause inefficient path execution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9"/>
          <p:cNvSpPr txBox="1"/>
          <p:nvPr/>
        </p:nvSpPr>
        <p:spPr>
          <a:xfrm>
            <a:off x="457200" y="365760"/>
            <a:ext cx="91440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3. Insights - Early Detection (First 30% of Run)</a:t>
            </a:r>
            <a:endParaRPr/>
          </a:p>
        </p:txBody>
      </p:sp>
      <p:sp>
        <p:nvSpPr>
          <p:cNvPr id="165" name="Google Shape;165;p9"/>
          <p:cNvSpPr txBox="1"/>
          <p:nvPr/>
        </p:nvSpPr>
        <p:spPr>
          <a:xfrm>
            <a:off x="10058400" y="36576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~3 min</a:t>
            </a:r>
            <a:endParaRPr/>
          </a:p>
        </p:txBody>
      </p:sp>
      <p:sp>
        <p:nvSpPr>
          <p:cNvPr id="166" name="Google Shape;166;p9"/>
          <p:cNvSpPr/>
          <p:nvPr/>
        </p:nvSpPr>
        <p:spPr>
          <a:xfrm>
            <a:off x="457200" y="1188720"/>
            <a:ext cx="11277295" cy="18288"/>
          </a:xfrm>
          <a:prstGeom prst="rect">
            <a:avLst/>
          </a:prstGeom>
          <a:solidFill>
            <a:srgbClr val="C8C8C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67" name="Google Shape;167;p9"/>
          <p:cNvGraphicFramePr/>
          <p:nvPr/>
        </p:nvGraphicFramePr>
        <p:xfrm>
          <a:off x="640080" y="146304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{0D392F20-7D84-41F4-8EEE-C95BBEAEBAE5}</a:tableStyleId>
              </a:tblPr>
              <a:tblGrid>
                <a:gridCol w="2194550"/>
                <a:gridCol w="2194550"/>
                <a:gridCol w="2194550"/>
                <a:gridCol w="2194550"/>
                <a:gridCol w="2194550"/>
              </a:tblGrid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Anomaly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PR-AUC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ROC-AUC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Cases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4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Insight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0F0F0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goal_failure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0.852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0.828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150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Highly predictable early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stuck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0.766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0.789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115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Highly predictable early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Isolation Forest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0.661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0.834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45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Good detection capability</a:t>
                      </a:r>
                      <a:endParaRPr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1"/>
          <p:cNvSpPr txBox="1"/>
          <p:nvPr/>
        </p:nvSpPr>
        <p:spPr>
          <a:xfrm>
            <a:off x="457200" y="365760"/>
            <a:ext cx="91440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3. Insights - Feature Signatures</a:t>
            </a:r>
            <a:endParaRPr/>
          </a:p>
        </p:txBody>
      </p:sp>
      <p:sp>
        <p:nvSpPr>
          <p:cNvPr id="173" name="Google Shape;173;p11"/>
          <p:cNvSpPr txBox="1"/>
          <p:nvPr/>
        </p:nvSpPr>
        <p:spPr>
          <a:xfrm>
            <a:off x="10058400" y="36576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~3 min</a:t>
            </a:r>
            <a:endParaRPr/>
          </a:p>
        </p:txBody>
      </p:sp>
      <p:sp>
        <p:nvSpPr>
          <p:cNvPr id="174" name="Google Shape;174;p11"/>
          <p:cNvSpPr/>
          <p:nvPr/>
        </p:nvSpPr>
        <p:spPr>
          <a:xfrm>
            <a:off x="457200" y="1188720"/>
            <a:ext cx="11277295" cy="18288"/>
          </a:xfrm>
          <a:prstGeom prst="rect">
            <a:avLst/>
          </a:prstGeom>
          <a:solidFill>
            <a:srgbClr val="C8C8C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1"/>
          <p:cNvSpPr txBox="1"/>
          <p:nvPr/>
        </p:nvSpPr>
        <p:spPr>
          <a:xfrm>
            <a:off x="640080" y="1371600"/>
            <a:ext cx="5029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Goal Failure ('Lost Robot')</a:t>
            </a:r>
            <a:endParaRPr/>
          </a:p>
        </p:txBody>
      </p:sp>
      <p:sp>
        <p:nvSpPr>
          <p:cNvPr id="176" name="Google Shape;176;p11"/>
          <p:cNvSpPr txBox="1"/>
          <p:nvPr/>
        </p:nvSpPr>
        <p:spPr>
          <a:xfrm>
            <a:off x="640080" y="192024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UP amcl_std (+1.176) - Inconsistent localization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DOWN amcl_median (-0.969) - Dropping confidence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DOWN std_velocity (-0.930) - Robot slowing/stopped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Interpretation: AMCL unstable + velocity drops</a:t>
            </a:r>
            <a:endParaRPr/>
          </a:p>
        </p:txBody>
      </p:sp>
      <p:sp>
        <p:nvSpPr>
          <p:cNvPr id="177" name="Google Shape;177;p11"/>
          <p:cNvSpPr txBox="1"/>
          <p:nvPr/>
        </p:nvSpPr>
        <p:spPr>
          <a:xfrm>
            <a:off x="6217920" y="1371600"/>
            <a:ext cx="5029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Stuck ('Persistent Obstacle')</a:t>
            </a:r>
            <a:endParaRPr/>
          </a:p>
        </p:txBody>
      </p:sp>
      <p:sp>
        <p:nvSpPr>
          <p:cNvPr id="178" name="Google Shape;178;p11"/>
          <p:cNvSpPr txBox="1"/>
          <p:nvPr/>
        </p:nvSpPr>
        <p:spPr>
          <a:xfrm>
            <a:off x="6217920" y="192024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UP max_pos_error (+1.355) - Far from target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UP duration (+1.294) - No progress over time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DOWN std_pos_error (-1.279) - Constant high error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Interpretation: Immobile behind obstacle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923dfd7fba_0_4"/>
          <p:cNvSpPr txBox="1"/>
          <p:nvPr/>
        </p:nvSpPr>
        <p:spPr>
          <a:xfrm>
            <a:off x="1169825" y="1425700"/>
            <a:ext cx="5044800" cy="350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position_error_spike: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↑ mean_lin_acc: coef=+2.195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↑ std_velocity: coef=+1.844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↑ stuck_ratio: coef=+1.716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g3923dfd7fba_0_4"/>
          <p:cNvSpPr txBox="1"/>
          <p:nvPr/>
        </p:nvSpPr>
        <p:spPr>
          <a:xfrm>
            <a:off x="6525575" y="1571950"/>
            <a:ext cx="5666100" cy="350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high_amcl_uncertainty: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↑ pos_error_trend: coef=+1.653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↑ mean_lin_acc: coef=+1.484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↓ amcl_mean: coef=-1.210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2"/>
          <p:cNvSpPr txBox="1"/>
          <p:nvPr/>
        </p:nvSpPr>
        <p:spPr>
          <a:xfrm>
            <a:off x="457200" y="365760"/>
            <a:ext cx="91440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4. Causal Analysis - Methodology</a:t>
            </a:r>
            <a:endParaRPr/>
          </a:p>
        </p:txBody>
      </p:sp>
      <p:sp>
        <p:nvSpPr>
          <p:cNvPr id="190" name="Google Shape;190;p12"/>
          <p:cNvSpPr txBox="1"/>
          <p:nvPr/>
        </p:nvSpPr>
        <p:spPr>
          <a:xfrm>
            <a:off x="10058400" y="36576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~3 min</a:t>
            </a:r>
            <a:endParaRPr/>
          </a:p>
        </p:txBody>
      </p:sp>
      <p:sp>
        <p:nvSpPr>
          <p:cNvPr id="191" name="Google Shape;191;p12"/>
          <p:cNvSpPr/>
          <p:nvPr/>
        </p:nvSpPr>
        <p:spPr>
          <a:xfrm>
            <a:off x="457200" y="1188720"/>
            <a:ext cx="11277295" cy="18288"/>
          </a:xfrm>
          <a:prstGeom prst="rect">
            <a:avLst/>
          </a:prstGeom>
          <a:solidFill>
            <a:srgbClr val="C8C8C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2"/>
          <p:cNvSpPr txBox="1"/>
          <p:nvPr/>
        </p:nvSpPr>
        <p:spPr>
          <a:xfrm>
            <a:off x="640080" y="1463040"/>
            <a:ext cx="10972800" cy="3663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Approach: Model Distillation / Surrogate Modeling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Step 1: High-Capacity Model Training (Ensemble)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 -&gt; Voting Classifier: D</a:t>
            </a:r>
            <a:r>
              <a:rPr lang="en-US" sz="1800">
                <a:solidFill>
                  <a:srgbClr val="333333"/>
                </a:solidFill>
              </a:rPr>
              <a:t>ecision Tree+ </a:t>
            </a: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Random Forest + Gradient Boosting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 -&gt; Prioritizes F1-score 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Step 2: Surrogate Model Training (Distilled Decision Tree)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 -&gt; Constrained tree (max_depth=4)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 -&gt; Target: Ensemble predictions (not ground truth)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923dfd7fba_0_0"/>
          <p:cNvSpPr txBox="1"/>
          <p:nvPr/>
        </p:nvSpPr>
        <p:spPr>
          <a:xfrm>
            <a:off x="1754725" y="2102025"/>
            <a:ext cx="9358500" cy="247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800">
                <a:solidFill>
                  <a:srgbClr val="333333"/>
                </a:solidFill>
              </a:rPr>
              <a:t>Step 3: Rule Extraction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800">
                <a:solidFill>
                  <a:srgbClr val="333333"/>
                </a:solidFill>
              </a:rPr>
              <a:t>•   -&gt; Extract paths with P(Anomaly) &gt; 0.5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800">
                <a:solidFill>
                  <a:srgbClr val="333333"/>
                </a:solidFill>
              </a:rPr>
              <a:t>•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800">
                <a:solidFill>
                  <a:srgbClr val="333333"/>
                </a:solidFill>
              </a:rPr>
              <a:t>• Step 4: FOL Translation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800">
                <a:solidFill>
                  <a:srgbClr val="333333"/>
                </a:solidFill>
              </a:rPr>
              <a:t>•   -&gt; Map thresholds to semantic predicates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3"/>
          <p:cNvSpPr txBox="1"/>
          <p:nvPr/>
        </p:nvSpPr>
        <p:spPr>
          <a:xfrm>
            <a:off x="457200" y="365760"/>
            <a:ext cx="91440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4. Derived FOL Rules - Examples</a:t>
            </a:r>
            <a:endParaRPr/>
          </a:p>
        </p:txBody>
      </p:sp>
      <p:sp>
        <p:nvSpPr>
          <p:cNvPr id="203" name="Google Shape;203;p13"/>
          <p:cNvSpPr txBox="1"/>
          <p:nvPr/>
        </p:nvSpPr>
        <p:spPr>
          <a:xfrm>
            <a:off x="10058400" y="36576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~3 min</a:t>
            </a:r>
            <a:endParaRPr/>
          </a:p>
        </p:txBody>
      </p:sp>
      <p:sp>
        <p:nvSpPr>
          <p:cNvPr id="204" name="Google Shape;204;p13"/>
          <p:cNvSpPr/>
          <p:nvPr/>
        </p:nvSpPr>
        <p:spPr>
          <a:xfrm>
            <a:off x="457200" y="1188720"/>
            <a:ext cx="11277295" cy="18288"/>
          </a:xfrm>
          <a:prstGeom prst="rect">
            <a:avLst/>
          </a:prstGeom>
          <a:solidFill>
            <a:srgbClr val="C8C8C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13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Goal Failure: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 For all t: in_corridor(t) AND min_wall_distance &gt; 0.737 AND obstacle_clearance &lt;= 17.97 =&gt; goal_failure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Stuck: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 For all t: min_door_distance &gt; 1.792 AND noise_level &lt;= 0.015 AND room_area &lt;= 25.13 =&gt; stuck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High AMCL Uncertainty: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 For all t: obstacle_clearance_ratio &gt; 31.31 AND total_obstacle_area &lt;= 0.875 =&gt; high_amcl_uncertainty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Path Inefficiency: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 For all t: clearance_ratio &gt; 6.812 AND min_door_distance &lt;= 1.349 =&gt; path_inefficiency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g3923dfd7fba_4_0" title="model_comparison_f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11886876" cy="59434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4"/>
          <p:cNvSpPr txBox="1"/>
          <p:nvPr/>
        </p:nvSpPr>
        <p:spPr>
          <a:xfrm>
            <a:off x="457200" y="365760"/>
            <a:ext cx="91440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5. Ideas for Future Improvements</a:t>
            </a:r>
            <a:endParaRPr/>
          </a:p>
        </p:txBody>
      </p:sp>
      <p:sp>
        <p:nvSpPr>
          <p:cNvPr id="216" name="Google Shape;216;p14"/>
          <p:cNvSpPr txBox="1"/>
          <p:nvPr/>
        </p:nvSpPr>
        <p:spPr>
          <a:xfrm>
            <a:off x="10058400" y="36576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~1 min</a:t>
            </a:r>
            <a:endParaRPr/>
          </a:p>
        </p:txBody>
      </p:sp>
      <p:sp>
        <p:nvSpPr>
          <p:cNvPr id="217" name="Google Shape;217;p14"/>
          <p:cNvSpPr/>
          <p:nvPr/>
        </p:nvSpPr>
        <p:spPr>
          <a:xfrm>
            <a:off x="457200" y="1188720"/>
            <a:ext cx="11277295" cy="18288"/>
          </a:xfrm>
          <a:prstGeom prst="rect">
            <a:avLst/>
          </a:prstGeom>
          <a:solidFill>
            <a:srgbClr val="C8C8C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14"/>
          <p:cNvSpPr txBox="1"/>
          <p:nvPr/>
        </p:nvSpPr>
        <p:spPr>
          <a:xfrm>
            <a:off x="640080" y="1371600"/>
            <a:ext cx="5029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Short-term</a:t>
            </a:r>
            <a:endParaRPr/>
          </a:p>
        </p:txBody>
      </p:sp>
      <p:sp>
        <p:nvSpPr>
          <p:cNvPr id="219" name="Google Shape;219;p14"/>
          <p:cNvSpPr txBox="1"/>
          <p:nvPr/>
        </p:nvSpPr>
        <p:spPr>
          <a:xfrm>
            <a:off x="640080" y="192024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Hyperparameter tuning on surrogate tree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Optimize max_depth, min_samples_leaf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Better balance: simplicity vs accuracy</a:t>
            </a:r>
            <a:endParaRPr/>
          </a:p>
        </p:txBody>
      </p:sp>
      <p:sp>
        <p:nvSpPr>
          <p:cNvPr id="220" name="Google Shape;220;p14"/>
          <p:cNvSpPr txBox="1"/>
          <p:nvPr/>
        </p:nvSpPr>
        <p:spPr>
          <a:xfrm>
            <a:off x="6217920" y="1371600"/>
            <a:ext cx="5029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Long-term</a:t>
            </a:r>
            <a:endParaRPr/>
          </a:p>
        </p:txBody>
      </p:sp>
      <p:sp>
        <p:nvSpPr>
          <p:cNvPr id="221" name="Google Shape;221;p14"/>
          <p:cNvSpPr txBox="1"/>
          <p:nvPr/>
        </p:nvSpPr>
        <p:spPr>
          <a:xfrm>
            <a:off x="6217920" y="192024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Feature engineering enhancements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 -&gt; Add more obstacle-related features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 -&gt; Include temporal dynamics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Cross-validation on unseen scenarios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Sensitivity analysis of rule thresholds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Real-time monitoring integration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5"/>
          <p:cNvSpPr txBox="1"/>
          <p:nvPr/>
        </p:nvSpPr>
        <p:spPr>
          <a:xfrm>
            <a:off x="457200" y="365760"/>
            <a:ext cx="91440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Summary</a:t>
            </a:r>
            <a:endParaRPr/>
          </a:p>
        </p:txBody>
      </p:sp>
      <p:sp>
        <p:nvSpPr>
          <p:cNvPr id="227" name="Google Shape;227;p15"/>
          <p:cNvSpPr/>
          <p:nvPr/>
        </p:nvSpPr>
        <p:spPr>
          <a:xfrm>
            <a:off x="457200" y="1188720"/>
            <a:ext cx="11277295" cy="18288"/>
          </a:xfrm>
          <a:prstGeom prst="rect">
            <a:avLst/>
          </a:prstGeom>
          <a:solidFill>
            <a:srgbClr val="C8C8C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15"/>
          <p:cNvSpPr txBox="1"/>
          <p:nvPr/>
        </p:nvSpPr>
        <p:spPr>
          <a:xfrm>
            <a:off x="640080" y="1463040"/>
            <a:ext cx="10972800" cy="1508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Requirements: Switched from log-based to CSV-based anomaly detection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Metrics: 9 performance metrics + 9 anomaly detectors (8 rule + 1 ML)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Causal Analysis: Surrogate tree distillation for interpretable FOL rules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Future: Hyperparameter tuning + enhanced feature engineering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16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Thank You!</a:t>
            </a:r>
            <a:endParaRPr/>
          </a:p>
        </p:txBody>
      </p:sp>
      <p:sp>
        <p:nvSpPr>
          <p:cNvPr id="234" name="Google Shape;234;p16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666666"/>
                </a:solidFill>
                <a:latin typeface="Arial"/>
                <a:ea typeface="Arial"/>
                <a:cs typeface="Arial"/>
                <a:sym typeface="Arial"/>
              </a:rPr>
              <a:t>Questions?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